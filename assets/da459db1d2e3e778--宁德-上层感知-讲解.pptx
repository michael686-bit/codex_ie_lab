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370" r:id="rId3"/>
    <p:sldId id="371" r:id="rId5"/>
    <p:sldId id="373" r:id="rId6"/>
    <p:sldId id="376" r:id="rId7"/>
    <p:sldId id="372" r:id="rId8"/>
    <p:sldId id="375" r:id="rId9"/>
    <p:sldId id="377" r:id="rId10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94" userDrawn="1">
          <p15:clr>
            <a:srgbClr val="A4A3A4"/>
          </p15:clr>
        </p15:guide>
        <p15:guide id="2" pos="7411" userDrawn="1">
          <p15:clr>
            <a:srgbClr val="A4A3A4"/>
          </p15:clr>
        </p15:guide>
        <p15:guide id="3" orient="horz" pos="403" userDrawn="1">
          <p15:clr>
            <a:srgbClr val="A4A3A4"/>
          </p15:clr>
        </p15:guide>
        <p15:guide id="4" orient="horz" pos="415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8333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9ECC"/>
    <a:srgbClr val="EBF0F9"/>
    <a:srgbClr val="B6C7EB"/>
    <a:srgbClr val="AFC2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448" y="184"/>
      </p:cViewPr>
      <p:guideLst>
        <p:guide pos="294"/>
        <p:guide pos="7411"/>
        <p:guide orient="horz" pos="403"/>
        <p:guide orient="horz" pos="41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F7382-B1F7-4D68-995D-F8373CE65D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86D82-40B8-4175-AE33-CCD3B53A526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lingbot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SAM </a:t>
            </a:r>
            <a:r>
              <a:rPr lang="zh-CN" altLang="en-US" dirty="0"/>
              <a:t>写个文档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点云滤除、匹配算法写个详细</a:t>
            </a:r>
            <a:r>
              <a:rPr lang="zh-CN" altLang="en-US" dirty="0"/>
              <a:t>文档</a:t>
            </a:r>
            <a:endParaRPr lang="zh-CN" altLang="en-US" dirty="0"/>
          </a:p>
        </p:txBody>
      </p:sp>
      <p:sp>
        <p:nvSpPr>
          <p:cNvPr id="104896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77179F-941D-9A4D-8E89-A31506259D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104896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77179F-941D-9A4D-8E89-A31506259D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104896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77179F-941D-9A4D-8E89-A31506259D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104896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77179F-941D-9A4D-8E89-A31506259D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104896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77179F-941D-9A4D-8E89-A31506259D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104896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77179F-941D-9A4D-8E89-A31506259D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104896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77179F-941D-9A4D-8E89-A31506259D6C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95300" y="1122363"/>
            <a:ext cx="112014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12141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036320"/>
            <a:ext cx="5181600" cy="5140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036320"/>
            <a:ext cx="5181600" cy="51406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B6875E-AEA4-42E3-A6DA-2440C2C832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000" y="365126"/>
            <a:ext cx="11121422" cy="513416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808533" y="6392174"/>
            <a:ext cx="1015572" cy="263041"/>
          </a:xfrm>
        </p:spPr>
        <p:txBody>
          <a:bodyPr/>
          <a:lstStyle/>
          <a:p>
            <a:fld id="{4FD61D64-70CE-E54F-BDF8-B8D614687CF6}" type="datetime1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1757-A667-704E-B799-643DAFF31F89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544513" y="1133290"/>
            <a:ext cx="11120437" cy="4711700"/>
          </a:xfrm>
        </p:spPr>
        <p:txBody>
          <a:bodyPr/>
          <a:lstStyle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kumimoji="1" lang="zh-CN" altLang="en-US" dirty="0"/>
              <a:t>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46487" y="124511"/>
            <a:ext cx="11214100" cy="6151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82600" y="868182"/>
            <a:ext cx="11214100" cy="5511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8" name="Group 4"/>
          <p:cNvGrpSpPr>
            <a:grpSpLocks noChangeAspect="1"/>
          </p:cNvGrpSpPr>
          <p:nvPr userDrawn="1"/>
        </p:nvGrpSpPr>
        <p:grpSpPr bwMode="auto">
          <a:xfrm>
            <a:off x="9939005" y="397033"/>
            <a:ext cx="2252995" cy="356370"/>
            <a:chOff x="768" y="1292"/>
            <a:chExt cx="5241" cy="829"/>
          </a:xfrm>
          <a:solidFill>
            <a:schemeClr val="accent1"/>
          </a:solidFill>
        </p:grpSpPr>
        <p:sp>
          <p:nvSpPr>
            <p:cNvPr id="9" name="Freeform 5"/>
            <p:cNvSpPr/>
            <p:nvPr/>
          </p:nvSpPr>
          <p:spPr bwMode="auto">
            <a:xfrm>
              <a:off x="4267" y="1292"/>
              <a:ext cx="1742" cy="829"/>
            </a:xfrm>
            <a:custGeom>
              <a:avLst/>
              <a:gdLst>
                <a:gd name="T0" fmla="*/ 1742 w 1742"/>
                <a:gd name="T1" fmla="*/ 829 h 829"/>
                <a:gd name="T2" fmla="*/ 851 w 1742"/>
                <a:gd name="T3" fmla="*/ 829 h 829"/>
                <a:gd name="T4" fmla="*/ 851 w 1742"/>
                <a:gd name="T5" fmla="*/ 9 h 829"/>
                <a:gd name="T6" fmla="*/ 751 w 1742"/>
                <a:gd name="T7" fmla="*/ 9 h 829"/>
                <a:gd name="T8" fmla="*/ 751 w 1742"/>
                <a:gd name="T9" fmla="*/ 24 h 829"/>
                <a:gd name="T10" fmla="*/ 724 w 1742"/>
                <a:gd name="T11" fmla="*/ 24 h 829"/>
                <a:gd name="T12" fmla="*/ 724 w 1742"/>
                <a:gd name="T13" fmla="*/ 9 h 829"/>
                <a:gd name="T14" fmla="*/ 258 w 1742"/>
                <a:gd name="T15" fmla="*/ 9 h 829"/>
                <a:gd name="T16" fmla="*/ 258 w 1742"/>
                <a:gd name="T17" fmla="*/ 24 h 829"/>
                <a:gd name="T18" fmla="*/ 231 w 1742"/>
                <a:gd name="T19" fmla="*/ 24 h 829"/>
                <a:gd name="T20" fmla="*/ 231 w 1742"/>
                <a:gd name="T21" fmla="*/ 9 h 829"/>
                <a:gd name="T22" fmla="*/ 132 w 1742"/>
                <a:gd name="T23" fmla="*/ 9 h 829"/>
                <a:gd name="T24" fmla="*/ 132 w 1742"/>
                <a:gd name="T25" fmla="*/ 829 h 829"/>
                <a:gd name="T26" fmla="*/ 0 w 1742"/>
                <a:gd name="T27" fmla="*/ 829 h 829"/>
                <a:gd name="T28" fmla="*/ 0 w 1742"/>
                <a:gd name="T29" fmla="*/ 820 h 829"/>
                <a:gd name="T30" fmla="*/ 123 w 1742"/>
                <a:gd name="T31" fmla="*/ 820 h 829"/>
                <a:gd name="T32" fmla="*/ 123 w 1742"/>
                <a:gd name="T33" fmla="*/ 0 h 829"/>
                <a:gd name="T34" fmla="*/ 239 w 1742"/>
                <a:gd name="T35" fmla="*/ 0 h 829"/>
                <a:gd name="T36" fmla="*/ 239 w 1742"/>
                <a:gd name="T37" fmla="*/ 14 h 829"/>
                <a:gd name="T38" fmla="*/ 250 w 1742"/>
                <a:gd name="T39" fmla="*/ 14 h 829"/>
                <a:gd name="T40" fmla="*/ 250 w 1742"/>
                <a:gd name="T41" fmla="*/ 0 h 829"/>
                <a:gd name="T42" fmla="*/ 732 w 1742"/>
                <a:gd name="T43" fmla="*/ 0 h 829"/>
                <a:gd name="T44" fmla="*/ 732 w 1742"/>
                <a:gd name="T45" fmla="*/ 14 h 829"/>
                <a:gd name="T46" fmla="*/ 743 w 1742"/>
                <a:gd name="T47" fmla="*/ 14 h 829"/>
                <a:gd name="T48" fmla="*/ 743 w 1742"/>
                <a:gd name="T49" fmla="*/ 0 h 829"/>
                <a:gd name="T50" fmla="*/ 861 w 1742"/>
                <a:gd name="T51" fmla="*/ 0 h 829"/>
                <a:gd name="T52" fmla="*/ 861 w 1742"/>
                <a:gd name="T53" fmla="*/ 820 h 829"/>
                <a:gd name="T54" fmla="*/ 1742 w 1742"/>
                <a:gd name="T55" fmla="*/ 820 h 829"/>
                <a:gd name="T56" fmla="*/ 1742 w 1742"/>
                <a:gd name="T57" fmla="*/ 829 h 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742" h="829">
                  <a:moveTo>
                    <a:pt x="1742" y="829"/>
                  </a:moveTo>
                  <a:lnTo>
                    <a:pt x="851" y="829"/>
                  </a:lnTo>
                  <a:lnTo>
                    <a:pt x="851" y="9"/>
                  </a:lnTo>
                  <a:lnTo>
                    <a:pt x="751" y="9"/>
                  </a:lnTo>
                  <a:lnTo>
                    <a:pt x="751" y="24"/>
                  </a:lnTo>
                  <a:lnTo>
                    <a:pt x="724" y="24"/>
                  </a:lnTo>
                  <a:lnTo>
                    <a:pt x="724" y="9"/>
                  </a:lnTo>
                  <a:lnTo>
                    <a:pt x="258" y="9"/>
                  </a:lnTo>
                  <a:lnTo>
                    <a:pt x="258" y="24"/>
                  </a:lnTo>
                  <a:lnTo>
                    <a:pt x="231" y="24"/>
                  </a:lnTo>
                  <a:lnTo>
                    <a:pt x="231" y="9"/>
                  </a:lnTo>
                  <a:lnTo>
                    <a:pt x="132" y="9"/>
                  </a:lnTo>
                  <a:lnTo>
                    <a:pt x="132" y="829"/>
                  </a:lnTo>
                  <a:lnTo>
                    <a:pt x="0" y="829"/>
                  </a:lnTo>
                  <a:lnTo>
                    <a:pt x="0" y="820"/>
                  </a:lnTo>
                  <a:lnTo>
                    <a:pt x="123" y="820"/>
                  </a:lnTo>
                  <a:lnTo>
                    <a:pt x="123" y="0"/>
                  </a:lnTo>
                  <a:lnTo>
                    <a:pt x="239" y="0"/>
                  </a:lnTo>
                  <a:lnTo>
                    <a:pt x="239" y="14"/>
                  </a:lnTo>
                  <a:lnTo>
                    <a:pt x="250" y="14"/>
                  </a:lnTo>
                  <a:lnTo>
                    <a:pt x="250" y="0"/>
                  </a:lnTo>
                  <a:lnTo>
                    <a:pt x="732" y="0"/>
                  </a:lnTo>
                  <a:lnTo>
                    <a:pt x="732" y="14"/>
                  </a:lnTo>
                  <a:lnTo>
                    <a:pt x="743" y="14"/>
                  </a:lnTo>
                  <a:lnTo>
                    <a:pt x="743" y="0"/>
                  </a:lnTo>
                  <a:lnTo>
                    <a:pt x="861" y="0"/>
                  </a:lnTo>
                  <a:lnTo>
                    <a:pt x="861" y="820"/>
                  </a:lnTo>
                  <a:lnTo>
                    <a:pt x="1742" y="820"/>
                  </a:lnTo>
                  <a:lnTo>
                    <a:pt x="1742" y="8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0" name="Freeform 6"/>
            <p:cNvSpPr/>
            <p:nvPr/>
          </p:nvSpPr>
          <p:spPr bwMode="auto">
            <a:xfrm>
              <a:off x="4517" y="1471"/>
              <a:ext cx="482" cy="646"/>
            </a:xfrm>
            <a:custGeom>
              <a:avLst/>
              <a:gdLst>
                <a:gd name="T0" fmla="*/ 482 w 482"/>
                <a:gd name="T1" fmla="*/ 646 h 646"/>
                <a:gd name="T2" fmla="*/ 474 w 482"/>
                <a:gd name="T3" fmla="*/ 646 h 646"/>
                <a:gd name="T4" fmla="*/ 474 w 482"/>
                <a:gd name="T5" fmla="*/ 112 h 646"/>
                <a:gd name="T6" fmla="*/ 433 w 482"/>
                <a:gd name="T7" fmla="*/ 112 h 646"/>
                <a:gd name="T8" fmla="*/ 433 w 482"/>
                <a:gd name="T9" fmla="*/ 79 h 646"/>
                <a:gd name="T10" fmla="*/ 364 w 482"/>
                <a:gd name="T11" fmla="*/ 38 h 646"/>
                <a:gd name="T12" fmla="*/ 320 w 482"/>
                <a:gd name="T13" fmla="*/ 38 h 646"/>
                <a:gd name="T14" fmla="*/ 320 w 482"/>
                <a:gd name="T15" fmla="*/ 9 h 646"/>
                <a:gd name="T16" fmla="*/ 164 w 482"/>
                <a:gd name="T17" fmla="*/ 9 h 646"/>
                <a:gd name="T18" fmla="*/ 164 w 482"/>
                <a:gd name="T19" fmla="*/ 38 h 646"/>
                <a:gd name="T20" fmla="*/ 120 w 482"/>
                <a:gd name="T21" fmla="*/ 38 h 646"/>
                <a:gd name="T22" fmla="*/ 49 w 482"/>
                <a:gd name="T23" fmla="*/ 79 h 646"/>
                <a:gd name="T24" fmla="*/ 49 w 482"/>
                <a:gd name="T25" fmla="*/ 112 h 646"/>
                <a:gd name="T26" fmla="*/ 8 w 482"/>
                <a:gd name="T27" fmla="*/ 112 h 646"/>
                <a:gd name="T28" fmla="*/ 8 w 482"/>
                <a:gd name="T29" fmla="*/ 646 h 646"/>
                <a:gd name="T30" fmla="*/ 0 w 482"/>
                <a:gd name="T31" fmla="*/ 646 h 646"/>
                <a:gd name="T32" fmla="*/ 0 w 482"/>
                <a:gd name="T33" fmla="*/ 102 h 646"/>
                <a:gd name="T34" fmla="*/ 41 w 482"/>
                <a:gd name="T35" fmla="*/ 102 h 646"/>
                <a:gd name="T36" fmla="*/ 41 w 482"/>
                <a:gd name="T37" fmla="*/ 74 h 646"/>
                <a:gd name="T38" fmla="*/ 116 w 482"/>
                <a:gd name="T39" fmla="*/ 29 h 646"/>
                <a:gd name="T40" fmla="*/ 154 w 482"/>
                <a:gd name="T41" fmla="*/ 29 h 646"/>
                <a:gd name="T42" fmla="*/ 154 w 482"/>
                <a:gd name="T43" fmla="*/ 0 h 646"/>
                <a:gd name="T44" fmla="*/ 328 w 482"/>
                <a:gd name="T45" fmla="*/ 0 h 646"/>
                <a:gd name="T46" fmla="*/ 328 w 482"/>
                <a:gd name="T47" fmla="*/ 29 h 646"/>
                <a:gd name="T48" fmla="*/ 366 w 482"/>
                <a:gd name="T49" fmla="*/ 29 h 646"/>
                <a:gd name="T50" fmla="*/ 441 w 482"/>
                <a:gd name="T51" fmla="*/ 74 h 646"/>
                <a:gd name="T52" fmla="*/ 441 w 482"/>
                <a:gd name="T53" fmla="*/ 102 h 646"/>
                <a:gd name="T54" fmla="*/ 482 w 482"/>
                <a:gd name="T55" fmla="*/ 102 h 646"/>
                <a:gd name="T56" fmla="*/ 482 w 482"/>
                <a:gd name="T57" fmla="*/ 646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82" h="646">
                  <a:moveTo>
                    <a:pt x="482" y="646"/>
                  </a:moveTo>
                  <a:lnTo>
                    <a:pt x="474" y="646"/>
                  </a:lnTo>
                  <a:lnTo>
                    <a:pt x="474" y="112"/>
                  </a:lnTo>
                  <a:lnTo>
                    <a:pt x="433" y="112"/>
                  </a:lnTo>
                  <a:lnTo>
                    <a:pt x="433" y="79"/>
                  </a:lnTo>
                  <a:lnTo>
                    <a:pt x="364" y="38"/>
                  </a:lnTo>
                  <a:lnTo>
                    <a:pt x="320" y="38"/>
                  </a:lnTo>
                  <a:lnTo>
                    <a:pt x="320" y="9"/>
                  </a:lnTo>
                  <a:lnTo>
                    <a:pt x="164" y="9"/>
                  </a:lnTo>
                  <a:lnTo>
                    <a:pt x="164" y="38"/>
                  </a:lnTo>
                  <a:lnTo>
                    <a:pt x="120" y="38"/>
                  </a:lnTo>
                  <a:lnTo>
                    <a:pt x="49" y="79"/>
                  </a:lnTo>
                  <a:lnTo>
                    <a:pt x="49" y="112"/>
                  </a:lnTo>
                  <a:lnTo>
                    <a:pt x="8" y="112"/>
                  </a:lnTo>
                  <a:lnTo>
                    <a:pt x="8" y="646"/>
                  </a:lnTo>
                  <a:lnTo>
                    <a:pt x="0" y="646"/>
                  </a:lnTo>
                  <a:lnTo>
                    <a:pt x="0" y="102"/>
                  </a:lnTo>
                  <a:lnTo>
                    <a:pt x="41" y="102"/>
                  </a:lnTo>
                  <a:lnTo>
                    <a:pt x="41" y="74"/>
                  </a:lnTo>
                  <a:lnTo>
                    <a:pt x="116" y="29"/>
                  </a:lnTo>
                  <a:lnTo>
                    <a:pt x="154" y="29"/>
                  </a:lnTo>
                  <a:lnTo>
                    <a:pt x="154" y="0"/>
                  </a:lnTo>
                  <a:lnTo>
                    <a:pt x="328" y="0"/>
                  </a:lnTo>
                  <a:lnTo>
                    <a:pt x="328" y="29"/>
                  </a:lnTo>
                  <a:lnTo>
                    <a:pt x="366" y="29"/>
                  </a:lnTo>
                  <a:lnTo>
                    <a:pt x="441" y="74"/>
                  </a:lnTo>
                  <a:lnTo>
                    <a:pt x="441" y="102"/>
                  </a:lnTo>
                  <a:lnTo>
                    <a:pt x="482" y="102"/>
                  </a:lnTo>
                  <a:lnTo>
                    <a:pt x="482" y="64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1" name="Freeform 7"/>
            <p:cNvSpPr>
              <a:spLocks noEditPoints="1"/>
            </p:cNvSpPr>
            <p:nvPr/>
          </p:nvSpPr>
          <p:spPr bwMode="auto">
            <a:xfrm>
              <a:off x="768" y="1614"/>
              <a:ext cx="2016" cy="507"/>
            </a:xfrm>
            <a:custGeom>
              <a:avLst/>
              <a:gdLst>
                <a:gd name="T0" fmla="*/ 1125 w 1178"/>
                <a:gd name="T1" fmla="*/ 294 h 294"/>
                <a:gd name="T2" fmla="*/ 1072 w 1178"/>
                <a:gd name="T3" fmla="*/ 231 h 294"/>
                <a:gd name="T4" fmla="*/ 959 w 1178"/>
                <a:gd name="T5" fmla="*/ 111 h 294"/>
                <a:gd name="T6" fmla="*/ 710 w 1178"/>
                <a:gd name="T7" fmla="*/ 53 h 294"/>
                <a:gd name="T8" fmla="*/ 647 w 1178"/>
                <a:gd name="T9" fmla="*/ 53 h 294"/>
                <a:gd name="T10" fmla="*/ 397 w 1178"/>
                <a:gd name="T11" fmla="*/ 111 h 294"/>
                <a:gd name="T12" fmla="*/ 284 w 1178"/>
                <a:gd name="T13" fmla="*/ 231 h 294"/>
                <a:gd name="T14" fmla="*/ 232 w 1178"/>
                <a:gd name="T15" fmla="*/ 294 h 294"/>
                <a:gd name="T16" fmla="*/ 0 w 1178"/>
                <a:gd name="T17" fmla="*/ 289 h 294"/>
                <a:gd name="T18" fmla="*/ 280 w 1178"/>
                <a:gd name="T19" fmla="*/ 227 h 294"/>
                <a:gd name="T20" fmla="*/ 394 w 1178"/>
                <a:gd name="T21" fmla="*/ 107 h 294"/>
                <a:gd name="T22" fmla="*/ 652 w 1178"/>
                <a:gd name="T23" fmla="*/ 51 h 294"/>
                <a:gd name="T24" fmla="*/ 705 w 1178"/>
                <a:gd name="T25" fmla="*/ 51 h 294"/>
                <a:gd name="T26" fmla="*/ 963 w 1178"/>
                <a:gd name="T27" fmla="*/ 107 h 294"/>
                <a:gd name="T28" fmla="*/ 1076 w 1178"/>
                <a:gd name="T29" fmla="*/ 227 h 294"/>
                <a:gd name="T30" fmla="*/ 1178 w 1178"/>
                <a:gd name="T31" fmla="*/ 289 h 294"/>
                <a:gd name="T32" fmla="*/ 1079 w 1178"/>
                <a:gd name="T33" fmla="*/ 294 h 294"/>
                <a:gd name="T34" fmla="*/ 1077 w 1178"/>
                <a:gd name="T35" fmla="*/ 293 h 294"/>
                <a:gd name="T36" fmla="*/ 1014 w 1178"/>
                <a:gd name="T37" fmla="*/ 214 h 294"/>
                <a:gd name="T38" fmla="*/ 838 w 1178"/>
                <a:gd name="T39" fmla="*/ 54 h 294"/>
                <a:gd name="T40" fmla="*/ 715 w 1178"/>
                <a:gd name="T41" fmla="*/ 94 h 294"/>
                <a:gd name="T42" fmla="*/ 690 w 1178"/>
                <a:gd name="T43" fmla="*/ 292 h 294"/>
                <a:gd name="T44" fmla="*/ 685 w 1178"/>
                <a:gd name="T45" fmla="*/ 283 h 294"/>
                <a:gd name="T46" fmla="*/ 760 w 1178"/>
                <a:gd name="T47" fmla="*/ 34 h 294"/>
                <a:gd name="T48" fmla="*/ 1000 w 1178"/>
                <a:gd name="T49" fmla="*/ 190 h 294"/>
                <a:gd name="T50" fmla="*/ 1057 w 1178"/>
                <a:gd name="T51" fmla="*/ 257 h 294"/>
                <a:gd name="T52" fmla="*/ 1081 w 1178"/>
                <a:gd name="T53" fmla="*/ 294 h 294"/>
                <a:gd name="T54" fmla="*/ 277 w 1178"/>
                <a:gd name="T55" fmla="*/ 294 h 294"/>
                <a:gd name="T56" fmla="*/ 300 w 1178"/>
                <a:gd name="T57" fmla="*/ 257 h 294"/>
                <a:gd name="T58" fmla="*/ 356 w 1178"/>
                <a:gd name="T59" fmla="*/ 190 h 294"/>
                <a:gd name="T60" fmla="*/ 597 w 1178"/>
                <a:gd name="T61" fmla="*/ 34 h 294"/>
                <a:gd name="T62" fmla="*/ 672 w 1178"/>
                <a:gd name="T63" fmla="*/ 283 h 294"/>
                <a:gd name="T64" fmla="*/ 666 w 1178"/>
                <a:gd name="T65" fmla="*/ 292 h 294"/>
                <a:gd name="T66" fmla="*/ 641 w 1178"/>
                <a:gd name="T67" fmla="*/ 94 h 294"/>
                <a:gd name="T68" fmla="*/ 519 w 1178"/>
                <a:gd name="T69" fmla="*/ 54 h 294"/>
                <a:gd name="T70" fmla="*/ 342 w 1178"/>
                <a:gd name="T71" fmla="*/ 214 h 294"/>
                <a:gd name="T72" fmla="*/ 280 w 1178"/>
                <a:gd name="T73" fmla="*/ 293 h 294"/>
                <a:gd name="T74" fmla="*/ 277 w 1178"/>
                <a:gd name="T75" fmla="*/ 292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8" h="294">
                  <a:moveTo>
                    <a:pt x="1178" y="294"/>
                  </a:moveTo>
                  <a:cubicBezTo>
                    <a:pt x="1125" y="294"/>
                    <a:pt x="1125" y="294"/>
                    <a:pt x="1125" y="294"/>
                  </a:cubicBezTo>
                  <a:cubicBezTo>
                    <a:pt x="1124" y="293"/>
                    <a:pt x="1124" y="293"/>
                    <a:pt x="1124" y="293"/>
                  </a:cubicBezTo>
                  <a:cubicBezTo>
                    <a:pt x="1124" y="293"/>
                    <a:pt x="1082" y="242"/>
                    <a:pt x="1072" y="231"/>
                  </a:cubicBezTo>
                  <a:cubicBezTo>
                    <a:pt x="1068" y="226"/>
                    <a:pt x="1068" y="226"/>
                    <a:pt x="1068" y="226"/>
                  </a:cubicBezTo>
                  <a:cubicBezTo>
                    <a:pt x="1034" y="186"/>
                    <a:pt x="1000" y="145"/>
                    <a:pt x="959" y="111"/>
                  </a:cubicBezTo>
                  <a:cubicBezTo>
                    <a:pt x="918" y="76"/>
                    <a:pt x="877" y="43"/>
                    <a:pt x="833" y="28"/>
                  </a:cubicBezTo>
                  <a:cubicBezTo>
                    <a:pt x="769" y="6"/>
                    <a:pt x="728" y="14"/>
                    <a:pt x="710" y="53"/>
                  </a:cubicBezTo>
                  <a:cubicBezTo>
                    <a:pt x="705" y="63"/>
                    <a:pt x="683" y="64"/>
                    <a:pt x="678" y="64"/>
                  </a:cubicBezTo>
                  <a:cubicBezTo>
                    <a:pt x="674" y="64"/>
                    <a:pt x="652" y="63"/>
                    <a:pt x="647" y="53"/>
                  </a:cubicBezTo>
                  <a:cubicBezTo>
                    <a:pt x="629" y="14"/>
                    <a:pt x="587" y="6"/>
                    <a:pt x="524" y="28"/>
                  </a:cubicBezTo>
                  <a:cubicBezTo>
                    <a:pt x="479" y="43"/>
                    <a:pt x="439" y="76"/>
                    <a:pt x="397" y="111"/>
                  </a:cubicBezTo>
                  <a:cubicBezTo>
                    <a:pt x="357" y="145"/>
                    <a:pt x="322" y="186"/>
                    <a:pt x="289" y="226"/>
                  </a:cubicBezTo>
                  <a:cubicBezTo>
                    <a:pt x="284" y="231"/>
                    <a:pt x="284" y="231"/>
                    <a:pt x="284" y="231"/>
                  </a:cubicBezTo>
                  <a:cubicBezTo>
                    <a:pt x="275" y="242"/>
                    <a:pt x="233" y="293"/>
                    <a:pt x="232" y="293"/>
                  </a:cubicBezTo>
                  <a:cubicBezTo>
                    <a:pt x="232" y="294"/>
                    <a:pt x="232" y="294"/>
                    <a:pt x="232" y="294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29" y="289"/>
                    <a:pt x="229" y="289"/>
                    <a:pt x="229" y="289"/>
                  </a:cubicBezTo>
                  <a:cubicBezTo>
                    <a:pt x="235" y="282"/>
                    <a:pt x="271" y="238"/>
                    <a:pt x="280" y="227"/>
                  </a:cubicBezTo>
                  <a:cubicBezTo>
                    <a:pt x="285" y="222"/>
                    <a:pt x="285" y="222"/>
                    <a:pt x="285" y="222"/>
                  </a:cubicBezTo>
                  <a:cubicBezTo>
                    <a:pt x="318" y="183"/>
                    <a:pt x="353" y="141"/>
                    <a:pt x="394" y="107"/>
                  </a:cubicBezTo>
                  <a:cubicBezTo>
                    <a:pt x="436" y="72"/>
                    <a:pt x="477" y="39"/>
                    <a:pt x="522" y="23"/>
                  </a:cubicBezTo>
                  <a:cubicBezTo>
                    <a:pt x="589" y="0"/>
                    <a:pt x="632" y="9"/>
                    <a:pt x="652" y="51"/>
                  </a:cubicBezTo>
                  <a:cubicBezTo>
                    <a:pt x="654" y="56"/>
                    <a:pt x="667" y="58"/>
                    <a:pt x="678" y="58"/>
                  </a:cubicBezTo>
                  <a:cubicBezTo>
                    <a:pt x="690" y="58"/>
                    <a:pt x="703" y="56"/>
                    <a:pt x="705" y="51"/>
                  </a:cubicBezTo>
                  <a:cubicBezTo>
                    <a:pt x="724" y="9"/>
                    <a:pt x="768" y="0"/>
                    <a:pt x="834" y="23"/>
                  </a:cubicBezTo>
                  <a:cubicBezTo>
                    <a:pt x="880" y="39"/>
                    <a:pt x="921" y="72"/>
                    <a:pt x="963" y="107"/>
                  </a:cubicBezTo>
                  <a:cubicBezTo>
                    <a:pt x="1003" y="141"/>
                    <a:pt x="1038" y="183"/>
                    <a:pt x="1072" y="222"/>
                  </a:cubicBezTo>
                  <a:cubicBezTo>
                    <a:pt x="1076" y="227"/>
                    <a:pt x="1076" y="227"/>
                    <a:pt x="1076" y="227"/>
                  </a:cubicBezTo>
                  <a:cubicBezTo>
                    <a:pt x="1085" y="238"/>
                    <a:pt x="1122" y="282"/>
                    <a:pt x="1128" y="289"/>
                  </a:cubicBezTo>
                  <a:cubicBezTo>
                    <a:pt x="1178" y="289"/>
                    <a:pt x="1178" y="289"/>
                    <a:pt x="1178" y="289"/>
                  </a:cubicBezTo>
                  <a:lnTo>
                    <a:pt x="1178" y="294"/>
                  </a:lnTo>
                  <a:close/>
                  <a:moveTo>
                    <a:pt x="1079" y="294"/>
                  </a:moveTo>
                  <a:cubicBezTo>
                    <a:pt x="1079" y="292"/>
                    <a:pt x="1079" y="292"/>
                    <a:pt x="1079" y="292"/>
                  </a:cubicBezTo>
                  <a:cubicBezTo>
                    <a:pt x="1077" y="293"/>
                    <a:pt x="1077" y="293"/>
                    <a:pt x="1077" y="293"/>
                  </a:cubicBezTo>
                  <a:cubicBezTo>
                    <a:pt x="1076" y="290"/>
                    <a:pt x="1055" y="263"/>
                    <a:pt x="1053" y="260"/>
                  </a:cubicBezTo>
                  <a:cubicBezTo>
                    <a:pt x="1039" y="243"/>
                    <a:pt x="1026" y="228"/>
                    <a:pt x="1014" y="214"/>
                  </a:cubicBezTo>
                  <a:cubicBezTo>
                    <a:pt x="1008" y="208"/>
                    <a:pt x="1002" y="201"/>
                    <a:pt x="996" y="194"/>
                  </a:cubicBezTo>
                  <a:cubicBezTo>
                    <a:pt x="950" y="140"/>
                    <a:pt x="902" y="84"/>
                    <a:pt x="838" y="54"/>
                  </a:cubicBezTo>
                  <a:cubicBezTo>
                    <a:pt x="814" y="44"/>
                    <a:pt x="786" y="33"/>
                    <a:pt x="761" y="40"/>
                  </a:cubicBezTo>
                  <a:cubicBezTo>
                    <a:pt x="736" y="46"/>
                    <a:pt x="723" y="73"/>
                    <a:pt x="715" y="94"/>
                  </a:cubicBezTo>
                  <a:cubicBezTo>
                    <a:pt x="695" y="156"/>
                    <a:pt x="693" y="218"/>
                    <a:pt x="690" y="283"/>
                  </a:cubicBezTo>
                  <a:cubicBezTo>
                    <a:pt x="690" y="292"/>
                    <a:pt x="690" y="292"/>
                    <a:pt x="690" y="292"/>
                  </a:cubicBezTo>
                  <a:cubicBezTo>
                    <a:pt x="685" y="291"/>
                    <a:pt x="685" y="291"/>
                    <a:pt x="685" y="291"/>
                  </a:cubicBezTo>
                  <a:cubicBezTo>
                    <a:pt x="685" y="283"/>
                    <a:pt x="685" y="283"/>
                    <a:pt x="685" y="283"/>
                  </a:cubicBezTo>
                  <a:cubicBezTo>
                    <a:pt x="687" y="217"/>
                    <a:pt x="689" y="155"/>
                    <a:pt x="710" y="92"/>
                  </a:cubicBezTo>
                  <a:cubicBezTo>
                    <a:pt x="718" y="70"/>
                    <a:pt x="733" y="42"/>
                    <a:pt x="760" y="34"/>
                  </a:cubicBezTo>
                  <a:cubicBezTo>
                    <a:pt x="787" y="28"/>
                    <a:pt x="815" y="38"/>
                    <a:pt x="840" y="50"/>
                  </a:cubicBezTo>
                  <a:cubicBezTo>
                    <a:pt x="905" y="80"/>
                    <a:pt x="954" y="136"/>
                    <a:pt x="1000" y="190"/>
                  </a:cubicBezTo>
                  <a:cubicBezTo>
                    <a:pt x="1006" y="197"/>
                    <a:pt x="1012" y="204"/>
                    <a:pt x="1018" y="211"/>
                  </a:cubicBezTo>
                  <a:cubicBezTo>
                    <a:pt x="1030" y="225"/>
                    <a:pt x="1043" y="240"/>
                    <a:pt x="1057" y="257"/>
                  </a:cubicBezTo>
                  <a:cubicBezTo>
                    <a:pt x="1069" y="272"/>
                    <a:pt x="1083" y="290"/>
                    <a:pt x="1082" y="293"/>
                  </a:cubicBezTo>
                  <a:cubicBezTo>
                    <a:pt x="1081" y="294"/>
                    <a:pt x="1081" y="294"/>
                    <a:pt x="1081" y="294"/>
                  </a:cubicBezTo>
                  <a:lnTo>
                    <a:pt x="1079" y="294"/>
                  </a:lnTo>
                  <a:close/>
                  <a:moveTo>
                    <a:pt x="277" y="294"/>
                  </a:moveTo>
                  <a:cubicBezTo>
                    <a:pt x="275" y="293"/>
                    <a:pt x="275" y="293"/>
                    <a:pt x="275" y="293"/>
                  </a:cubicBezTo>
                  <a:cubicBezTo>
                    <a:pt x="274" y="290"/>
                    <a:pt x="292" y="267"/>
                    <a:pt x="300" y="257"/>
                  </a:cubicBezTo>
                  <a:cubicBezTo>
                    <a:pt x="314" y="240"/>
                    <a:pt x="326" y="225"/>
                    <a:pt x="338" y="211"/>
                  </a:cubicBezTo>
                  <a:cubicBezTo>
                    <a:pt x="344" y="204"/>
                    <a:pt x="350" y="197"/>
                    <a:pt x="356" y="190"/>
                  </a:cubicBezTo>
                  <a:cubicBezTo>
                    <a:pt x="403" y="136"/>
                    <a:pt x="451" y="80"/>
                    <a:pt x="517" y="50"/>
                  </a:cubicBezTo>
                  <a:cubicBezTo>
                    <a:pt x="541" y="38"/>
                    <a:pt x="570" y="28"/>
                    <a:pt x="597" y="34"/>
                  </a:cubicBezTo>
                  <a:cubicBezTo>
                    <a:pt x="624" y="42"/>
                    <a:pt x="639" y="70"/>
                    <a:pt x="646" y="92"/>
                  </a:cubicBezTo>
                  <a:cubicBezTo>
                    <a:pt x="667" y="155"/>
                    <a:pt x="669" y="217"/>
                    <a:pt x="672" y="283"/>
                  </a:cubicBezTo>
                  <a:cubicBezTo>
                    <a:pt x="672" y="291"/>
                    <a:pt x="672" y="291"/>
                    <a:pt x="672" y="291"/>
                  </a:cubicBezTo>
                  <a:cubicBezTo>
                    <a:pt x="666" y="292"/>
                    <a:pt x="666" y="292"/>
                    <a:pt x="666" y="292"/>
                  </a:cubicBezTo>
                  <a:cubicBezTo>
                    <a:pt x="666" y="283"/>
                    <a:pt x="666" y="283"/>
                    <a:pt x="666" y="283"/>
                  </a:cubicBezTo>
                  <a:cubicBezTo>
                    <a:pt x="664" y="218"/>
                    <a:pt x="662" y="156"/>
                    <a:pt x="641" y="94"/>
                  </a:cubicBezTo>
                  <a:cubicBezTo>
                    <a:pt x="634" y="73"/>
                    <a:pt x="620" y="46"/>
                    <a:pt x="595" y="40"/>
                  </a:cubicBezTo>
                  <a:cubicBezTo>
                    <a:pt x="570" y="33"/>
                    <a:pt x="543" y="44"/>
                    <a:pt x="519" y="54"/>
                  </a:cubicBezTo>
                  <a:cubicBezTo>
                    <a:pt x="455" y="84"/>
                    <a:pt x="407" y="140"/>
                    <a:pt x="360" y="194"/>
                  </a:cubicBezTo>
                  <a:cubicBezTo>
                    <a:pt x="354" y="201"/>
                    <a:pt x="348" y="208"/>
                    <a:pt x="342" y="214"/>
                  </a:cubicBezTo>
                  <a:cubicBezTo>
                    <a:pt x="330" y="228"/>
                    <a:pt x="318" y="243"/>
                    <a:pt x="304" y="260"/>
                  </a:cubicBezTo>
                  <a:cubicBezTo>
                    <a:pt x="302" y="263"/>
                    <a:pt x="281" y="290"/>
                    <a:pt x="280" y="293"/>
                  </a:cubicBezTo>
                  <a:cubicBezTo>
                    <a:pt x="278" y="291"/>
                    <a:pt x="278" y="291"/>
                    <a:pt x="278" y="291"/>
                  </a:cubicBezTo>
                  <a:cubicBezTo>
                    <a:pt x="277" y="292"/>
                    <a:pt x="277" y="292"/>
                    <a:pt x="277" y="292"/>
                  </a:cubicBezTo>
                  <a:lnTo>
                    <a:pt x="277" y="294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2784" y="1893"/>
              <a:ext cx="1027" cy="228"/>
            </a:xfrm>
            <a:custGeom>
              <a:avLst/>
              <a:gdLst>
                <a:gd name="T0" fmla="*/ 1027 w 1027"/>
                <a:gd name="T1" fmla="*/ 228 h 228"/>
                <a:gd name="T2" fmla="*/ 879 w 1027"/>
                <a:gd name="T3" fmla="*/ 228 h 228"/>
                <a:gd name="T4" fmla="*/ 879 w 1027"/>
                <a:gd name="T5" fmla="*/ 11 h 228"/>
                <a:gd name="T6" fmla="*/ 67 w 1027"/>
                <a:gd name="T7" fmla="*/ 11 h 228"/>
                <a:gd name="T8" fmla="*/ 67 w 1027"/>
                <a:gd name="T9" fmla="*/ 228 h 228"/>
                <a:gd name="T10" fmla="*/ 0 w 1027"/>
                <a:gd name="T11" fmla="*/ 228 h 228"/>
                <a:gd name="T12" fmla="*/ 0 w 1027"/>
                <a:gd name="T13" fmla="*/ 219 h 228"/>
                <a:gd name="T14" fmla="*/ 57 w 1027"/>
                <a:gd name="T15" fmla="*/ 219 h 228"/>
                <a:gd name="T16" fmla="*/ 57 w 1027"/>
                <a:gd name="T17" fmla="*/ 0 h 228"/>
                <a:gd name="T18" fmla="*/ 887 w 1027"/>
                <a:gd name="T19" fmla="*/ 0 h 228"/>
                <a:gd name="T20" fmla="*/ 887 w 1027"/>
                <a:gd name="T21" fmla="*/ 219 h 228"/>
                <a:gd name="T22" fmla="*/ 1027 w 1027"/>
                <a:gd name="T23" fmla="*/ 219 h 228"/>
                <a:gd name="T24" fmla="*/ 1027 w 1027"/>
                <a:gd name="T25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7" h="228">
                  <a:moveTo>
                    <a:pt x="1027" y="228"/>
                  </a:moveTo>
                  <a:lnTo>
                    <a:pt x="879" y="228"/>
                  </a:lnTo>
                  <a:lnTo>
                    <a:pt x="879" y="11"/>
                  </a:lnTo>
                  <a:lnTo>
                    <a:pt x="67" y="11"/>
                  </a:lnTo>
                  <a:lnTo>
                    <a:pt x="67" y="228"/>
                  </a:lnTo>
                  <a:lnTo>
                    <a:pt x="0" y="228"/>
                  </a:lnTo>
                  <a:lnTo>
                    <a:pt x="0" y="219"/>
                  </a:lnTo>
                  <a:lnTo>
                    <a:pt x="57" y="219"/>
                  </a:lnTo>
                  <a:lnTo>
                    <a:pt x="57" y="0"/>
                  </a:lnTo>
                  <a:lnTo>
                    <a:pt x="887" y="0"/>
                  </a:lnTo>
                  <a:lnTo>
                    <a:pt x="887" y="219"/>
                  </a:lnTo>
                  <a:lnTo>
                    <a:pt x="1027" y="219"/>
                  </a:lnTo>
                  <a:lnTo>
                    <a:pt x="1027" y="22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3" name="Freeform 9"/>
            <p:cNvSpPr/>
            <p:nvPr/>
          </p:nvSpPr>
          <p:spPr bwMode="auto">
            <a:xfrm>
              <a:off x="3159" y="1948"/>
              <a:ext cx="183" cy="169"/>
            </a:xfrm>
            <a:custGeom>
              <a:avLst/>
              <a:gdLst>
                <a:gd name="T0" fmla="*/ 5 w 107"/>
                <a:gd name="T1" fmla="*/ 98 h 98"/>
                <a:gd name="T2" fmla="*/ 0 w 107"/>
                <a:gd name="T3" fmla="*/ 98 h 98"/>
                <a:gd name="T4" fmla="*/ 0 w 107"/>
                <a:gd name="T5" fmla="*/ 13 h 98"/>
                <a:gd name="T6" fmla="*/ 6 w 107"/>
                <a:gd name="T7" fmla="*/ 7 h 98"/>
                <a:gd name="T8" fmla="*/ 11 w 107"/>
                <a:gd name="T9" fmla="*/ 6 h 98"/>
                <a:gd name="T10" fmla="*/ 19 w 107"/>
                <a:gd name="T11" fmla="*/ 4 h 98"/>
                <a:gd name="T12" fmla="*/ 28 w 107"/>
                <a:gd name="T13" fmla="*/ 0 h 98"/>
                <a:gd name="T14" fmla="*/ 29 w 107"/>
                <a:gd name="T15" fmla="*/ 0 h 98"/>
                <a:gd name="T16" fmla="*/ 59 w 107"/>
                <a:gd name="T17" fmla="*/ 0 h 98"/>
                <a:gd name="T18" fmla="*/ 78 w 107"/>
                <a:gd name="T19" fmla="*/ 0 h 98"/>
                <a:gd name="T20" fmla="*/ 86 w 107"/>
                <a:gd name="T21" fmla="*/ 4 h 98"/>
                <a:gd name="T22" fmla="*/ 91 w 107"/>
                <a:gd name="T23" fmla="*/ 5 h 98"/>
                <a:gd name="T24" fmla="*/ 94 w 107"/>
                <a:gd name="T25" fmla="*/ 5 h 98"/>
                <a:gd name="T26" fmla="*/ 94 w 107"/>
                <a:gd name="T27" fmla="*/ 6 h 98"/>
                <a:gd name="T28" fmla="*/ 107 w 107"/>
                <a:gd name="T29" fmla="*/ 20 h 98"/>
                <a:gd name="T30" fmla="*/ 107 w 107"/>
                <a:gd name="T31" fmla="*/ 74 h 98"/>
                <a:gd name="T32" fmla="*/ 107 w 107"/>
                <a:gd name="T33" fmla="*/ 97 h 98"/>
                <a:gd name="T34" fmla="*/ 102 w 107"/>
                <a:gd name="T35" fmla="*/ 97 h 98"/>
                <a:gd name="T36" fmla="*/ 101 w 107"/>
                <a:gd name="T37" fmla="*/ 74 h 98"/>
                <a:gd name="T38" fmla="*/ 101 w 107"/>
                <a:gd name="T39" fmla="*/ 20 h 98"/>
                <a:gd name="T40" fmla="*/ 94 w 107"/>
                <a:gd name="T41" fmla="*/ 11 h 98"/>
                <a:gd name="T42" fmla="*/ 93 w 107"/>
                <a:gd name="T43" fmla="*/ 11 h 98"/>
                <a:gd name="T44" fmla="*/ 91 w 107"/>
                <a:gd name="T45" fmla="*/ 11 h 98"/>
                <a:gd name="T46" fmla="*/ 82 w 107"/>
                <a:gd name="T47" fmla="*/ 7 h 98"/>
                <a:gd name="T48" fmla="*/ 78 w 107"/>
                <a:gd name="T49" fmla="*/ 6 h 98"/>
                <a:gd name="T50" fmla="*/ 59 w 107"/>
                <a:gd name="T51" fmla="*/ 6 h 98"/>
                <a:gd name="T52" fmla="*/ 29 w 107"/>
                <a:gd name="T53" fmla="*/ 6 h 98"/>
                <a:gd name="T54" fmla="*/ 27 w 107"/>
                <a:gd name="T55" fmla="*/ 6 h 98"/>
                <a:gd name="T56" fmla="*/ 24 w 107"/>
                <a:gd name="T57" fmla="*/ 7 h 98"/>
                <a:gd name="T58" fmla="*/ 20 w 107"/>
                <a:gd name="T59" fmla="*/ 10 h 98"/>
                <a:gd name="T60" fmla="*/ 13 w 107"/>
                <a:gd name="T61" fmla="*/ 11 h 98"/>
                <a:gd name="T62" fmla="*/ 6 w 107"/>
                <a:gd name="T63" fmla="*/ 12 h 98"/>
                <a:gd name="T64" fmla="*/ 5 w 107"/>
                <a:gd name="T65" fmla="*/ 12 h 98"/>
                <a:gd name="T66" fmla="*/ 5 w 107"/>
                <a:gd name="T67" fmla="*/ 13 h 98"/>
                <a:gd name="T68" fmla="*/ 5 w 107"/>
                <a:gd name="T6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7" h="98">
                  <a:moveTo>
                    <a:pt x="5" y="98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0" y="65"/>
                    <a:pt x="0" y="46"/>
                    <a:pt x="0" y="13"/>
                  </a:cubicBezTo>
                  <a:cubicBezTo>
                    <a:pt x="0" y="11"/>
                    <a:pt x="1" y="7"/>
                    <a:pt x="6" y="7"/>
                  </a:cubicBezTo>
                  <a:cubicBezTo>
                    <a:pt x="8" y="6"/>
                    <a:pt x="10" y="6"/>
                    <a:pt x="11" y="6"/>
                  </a:cubicBezTo>
                  <a:cubicBezTo>
                    <a:pt x="14" y="5"/>
                    <a:pt x="16" y="4"/>
                    <a:pt x="19" y="4"/>
                  </a:cubicBezTo>
                  <a:cubicBezTo>
                    <a:pt x="21" y="0"/>
                    <a:pt x="25" y="0"/>
                    <a:pt x="28" y="0"/>
                  </a:cubicBezTo>
                  <a:cubicBezTo>
                    <a:pt x="28" y="0"/>
                    <a:pt x="29" y="0"/>
                    <a:pt x="29" y="0"/>
                  </a:cubicBezTo>
                  <a:cubicBezTo>
                    <a:pt x="39" y="0"/>
                    <a:pt x="49" y="0"/>
                    <a:pt x="59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1" y="0"/>
                    <a:pt x="84" y="1"/>
                    <a:pt x="86" y="4"/>
                  </a:cubicBezTo>
                  <a:cubicBezTo>
                    <a:pt x="87" y="5"/>
                    <a:pt x="89" y="5"/>
                    <a:pt x="91" y="5"/>
                  </a:cubicBezTo>
                  <a:cubicBezTo>
                    <a:pt x="92" y="5"/>
                    <a:pt x="93" y="5"/>
                    <a:pt x="94" y="5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106" y="7"/>
                    <a:pt x="107" y="8"/>
                    <a:pt x="107" y="20"/>
                  </a:cubicBezTo>
                  <a:cubicBezTo>
                    <a:pt x="107" y="74"/>
                    <a:pt x="107" y="74"/>
                    <a:pt x="107" y="74"/>
                  </a:cubicBezTo>
                  <a:cubicBezTo>
                    <a:pt x="107" y="81"/>
                    <a:pt x="107" y="86"/>
                    <a:pt x="107" y="97"/>
                  </a:cubicBezTo>
                  <a:cubicBezTo>
                    <a:pt x="102" y="97"/>
                    <a:pt x="102" y="97"/>
                    <a:pt x="102" y="97"/>
                  </a:cubicBezTo>
                  <a:cubicBezTo>
                    <a:pt x="101" y="86"/>
                    <a:pt x="101" y="81"/>
                    <a:pt x="101" y="74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12"/>
                    <a:pt x="101" y="12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88" y="10"/>
                    <a:pt x="84" y="10"/>
                    <a:pt x="82" y="7"/>
                  </a:cubicBezTo>
                  <a:cubicBezTo>
                    <a:pt x="81" y="6"/>
                    <a:pt x="80" y="6"/>
                    <a:pt x="78" y="6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49" y="6"/>
                    <a:pt x="39" y="6"/>
                    <a:pt x="29" y="6"/>
                  </a:cubicBezTo>
                  <a:cubicBezTo>
                    <a:pt x="28" y="6"/>
                    <a:pt x="28" y="6"/>
                    <a:pt x="27" y="6"/>
                  </a:cubicBezTo>
                  <a:cubicBezTo>
                    <a:pt x="24" y="5"/>
                    <a:pt x="24" y="5"/>
                    <a:pt x="24" y="7"/>
                  </a:cubicBezTo>
                  <a:cubicBezTo>
                    <a:pt x="24" y="8"/>
                    <a:pt x="23" y="10"/>
                    <a:pt x="20" y="10"/>
                  </a:cubicBezTo>
                  <a:cubicBezTo>
                    <a:pt x="17" y="10"/>
                    <a:pt x="15" y="10"/>
                    <a:pt x="13" y="11"/>
                  </a:cubicBezTo>
                  <a:cubicBezTo>
                    <a:pt x="11" y="11"/>
                    <a:pt x="9" y="12"/>
                    <a:pt x="6" y="12"/>
                  </a:cubicBezTo>
                  <a:cubicBezTo>
                    <a:pt x="6" y="12"/>
                    <a:pt x="5" y="12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46"/>
                    <a:pt x="5" y="65"/>
                    <a:pt x="5" y="9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4" name="Freeform 10"/>
            <p:cNvSpPr>
              <a:spLocks noEditPoints="1"/>
            </p:cNvSpPr>
            <p:nvPr/>
          </p:nvSpPr>
          <p:spPr bwMode="auto">
            <a:xfrm>
              <a:off x="2647" y="1656"/>
              <a:ext cx="1226" cy="229"/>
            </a:xfrm>
            <a:custGeom>
              <a:avLst/>
              <a:gdLst>
                <a:gd name="T0" fmla="*/ 67 w 716"/>
                <a:gd name="T1" fmla="*/ 112 h 133"/>
                <a:gd name="T2" fmla="*/ 49 w 716"/>
                <a:gd name="T3" fmla="*/ 101 h 133"/>
                <a:gd name="T4" fmla="*/ 30 w 716"/>
                <a:gd name="T5" fmla="*/ 86 h 133"/>
                <a:gd name="T6" fmla="*/ 11 w 716"/>
                <a:gd name="T7" fmla="*/ 53 h 133"/>
                <a:gd name="T8" fmla="*/ 25 w 716"/>
                <a:gd name="T9" fmla="*/ 52 h 133"/>
                <a:gd name="T10" fmla="*/ 36 w 716"/>
                <a:gd name="T11" fmla="*/ 52 h 133"/>
                <a:gd name="T12" fmla="*/ 45 w 716"/>
                <a:gd name="T13" fmla="*/ 52 h 133"/>
                <a:gd name="T14" fmla="*/ 55 w 716"/>
                <a:gd name="T15" fmla="*/ 54 h 133"/>
                <a:gd name="T16" fmla="*/ 72 w 716"/>
                <a:gd name="T17" fmla="*/ 60 h 133"/>
                <a:gd name="T18" fmla="*/ 73 w 716"/>
                <a:gd name="T19" fmla="*/ 56 h 133"/>
                <a:gd name="T20" fmla="*/ 93 w 716"/>
                <a:gd name="T21" fmla="*/ 56 h 133"/>
                <a:gd name="T22" fmla="*/ 127 w 716"/>
                <a:gd name="T23" fmla="*/ 62 h 133"/>
                <a:gd name="T24" fmla="*/ 150 w 716"/>
                <a:gd name="T25" fmla="*/ 62 h 133"/>
                <a:gd name="T26" fmla="*/ 173 w 716"/>
                <a:gd name="T27" fmla="*/ 48 h 133"/>
                <a:gd name="T28" fmla="*/ 178 w 716"/>
                <a:gd name="T29" fmla="*/ 19 h 133"/>
                <a:gd name="T30" fmla="*/ 190 w 716"/>
                <a:gd name="T31" fmla="*/ 11 h 133"/>
                <a:gd name="T32" fmla="*/ 207 w 716"/>
                <a:gd name="T33" fmla="*/ 2 h 133"/>
                <a:gd name="T34" fmla="*/ 211 w 716"/>
                <a:gd name="T35" fmla="*/ 23 h 133"/>
                <a:gd name="T36" fmla="*/ 496 w 716"/>
                <a:gd name="T37" fmla="*/ 27 h 133"/>
                <a:gd name="T38" fmla="*/ 516 w 716"/>
                <a:gd name="T39" fmla="*/ 8 h 133"/>
                <a:gd name="T40" fmla="*/ 530 w 716"/>
                <a:gd name="T41" fmla="*/ 10 h 133"/>
                <a:gd name="T42" fmla="*/ 536 w 716"/>
                <a:gd name="T43" fmla="*/ 28 h 133"/>
                <a:gd name="T44" fmla="*/ 561 w 716"/>
                <a:gd name="T45" fmla="*/ 62 h 133"/>
                <a:gd name="T46" fmla="*/ 612 w 716"/>
                <a:gd name="T47" fmla="*/ 56 h 133"/>
                <a:gd name="T48" fmla="*/ 622 w 716"/>
                <a:gd name="T49" fmla="*/ 64 h 133"/>
                <a:gd name="T50" fmla="*/ 635 w 716"/>
                <a:gd name="T51" fmla="*/ 59 h 133"/>
                <a:gd name="T52" fmla="*/ 649 w 716"/>
                <a:gd name="T53" fmla="*/ 63 h 133"/>
                <a:gd name="T54" fmla="*/ 662 w 716"/>
                <a:gd name="T55" fmla="*/ 61 h 133"/>
                <a:gd name="T56" fmla="*/ 678 w 716"/>
                <a:gd name="T57" fmla="*/ 56 h 133"/>
                <a:gd name="T58" fmla="*/ 691 w 716"/>
                <a:gd name="T59" fmla="*/ 54 h 133"/>
                <a:gd name="T60" fmla="*/ 702 w 716"/>
                <a:gd name="T61" fmla="*/ 52 h 133"/>
                <a:gd name="T62" fmla="*/ 714 w 716"/>
                <a:gd name="T63" fmla="*/ 60 h 133"/>
                <a:gd name="T64" fmla="*/ 684 w 716"/>
                <a:gd name="T65" fmla="*/ 90 h 133"/>
                <a:gd name="T66" fmla="*/ 653 w 716"/>
                <a:gd name="T67" fmla="*/ 108 h 133"/>
                <a:gd name="T68" fmla="*/ 601 w 716"/>
                <a:gd name="T69" fmla="*/ 133 h 133"/>
                <a:gd name="T70" fmla="*/ 599 w 716"/>
                <a:gd name="T71" fmla="*/ 128 h 133"/>
                <a:gd name="T72" fmla="*/ 652 w 716"/>
                <a:gd name="T73" fmla="*/ 103 h 133"/>
                <a:gd name="T74" fmla="*/ 691 w 716"/>
                <a:gd name="T75" fmla="*/ 78 h 133"/>
                <a:gd name="T76" fmla="*/ 701 w 716"/>
                <a:gd name="T77" fmla="*/ 58 h 133"/>
                <a:gd name="T78" fmla="*/ 683 w 716"/>
                <a:gd name="T79" fmla="*/ 57 h 133"/>
                <a:gd name="T80" fmla="*/ 657 w 716"/>
                <a:gd name="T81" fmla="*/ 64 h 133"/>
                <a:gd name="T82" fmla="*/ 637 w 716"/>
                <a:gd name="T83" fmla="*/ 70 h 133"/>
                <a:gd name="T84" fmla="*/ 616 w 716"/>
                <a:gd name="T85" fmla="*/ 63 h 133"/>
                <a:gd name="T86" fmla="*/ 606 w 716"/>
                <a:gd name="T87" fmla="*/ 66 h 133"/>
                <a:gd name="T88" fmla="*/ 562 w 716"/>
                <a:gd name="T89" fmla="*/ 67 h 133"/>
                <a:gd name="T90" fmla="*/ 530 w 716"/>
                <a:gd name="T91" fmla="*/ 26 h 133"/>
                <a:gd name="T92" fmla="*/ 518 w 716"/>
                <a:gd name="T93" fmla="*/ 15 h 133"/>
                <a:gd name="T94" fmla="*/ 508 w 716"/>
                <a:gd name="T95" fmla="*/ 21 h 133"/>
                <a:gd name="T96" fmla="*/ 220 w 716"/>
                <a:gd name="T97" fmla="*/ 32 h 133"/>
                <a:gd name="T98" fmla="*/ 206 w 716"/>
                <a:gd name="T99" fmla="*/ 15 h 133"/>
                <a:gd name="T100" fmla="*/ 193 w 716"/>
                <a:gd name="T101" fmla="*/ 16 h 133"/>
                <a:gd name="T102" fmla="*/ 182 w 716"/>
                <a:gd name="T103" fmla="*/ 30 h 133"/>
                <a:gd name="T104" fmla="*/ 152 w 716"/>
                <a:gd name="T105" fmla="*/ 67 h 133"/>
                <a:gd name="T106" fmla="*/ 108 w 716"/>
                <a:gd name="T107" fmla="*/ 66 h 133"/>
                <a:gd name="T108" fmla="*/ 96 w 716"/>
                <a:gd name="T109" fmla="*/ 60 h 133"/>
                <a:gd name="T110" fmla="*/ 80 w 716"/>
                <a:gd name="T111" fmla="*/ 68 h 133"/>
                <a:gd name="T112" fmla="*/ 56 w 716"/>
                <a:gd name="T113" fmla="*/ 64 h 133"/>
                <a:gd name="T114" fmla="*/ 33 w 716"/>
                <a:gd name="T115" fmla="*/ 57 h 133"/>
                <a:gd name="T116" fmla="*/ 19 w 716"/>
                <a:gd name="T117" fmla="*/ 54 h 133"/>
                <a:gd name="T118" fmla="*/ 6 w 716"/>
                <a:gd name="T119" fmla="*/ 67 h 133"/>
                <a:gd name="T120" fmla="*/ 37 w 716"/>
                <a:gd name="T121" fmla="*/ 86 h 133"/>
                <a:gd name="T122" fmla="*/ 56 w 716"/>
                <a:gd name="T123" fmla="*/ 9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6" h="133">
                  <a:moveTo>
                    <a:pt x="113" y="133"/>
                  </a:moveTo>
                  <a:cubicBezTo>
                    <a:pt x="112" y="133"/>
                    <a:pt x="112" y="133"/>
                    <a:pt x="112" y="133"/>
                  </a:cubicBezTo>
                  <a:cubicBezTo>
                    <a:pt x="103" y="130"/>
                    <a:pt x="94" y="126"/>
                    <a:pt x="85" y="122"/>
                  </a:cubicBezTo>
                  <a:cubicBezTo>
                    <a:pt x="83" y="121"/>
                    <a:pt x="81" y="120"/>
                    <a:pt x="80" y="119"/>
                  </a:cubicBezTo>
                  <a:cubicBezTo>
                    <a:pt x="76" y="117"/>
                    <a:pt x="73" y="115"/>
                    <a:pt x="69" y="114"/>
                  </a:cubicBezTo>
                  <a:cubicBezTo>
                    <a:pt x="67" y="114"/>
                    <a:pt x="67" y="114"/>
                    <a:pt x="67" y="114"/>
                  </a:cubicBezTo>
                  <a:cubicBezTo>
                    <a:pt x="67" y="112"/>
                    <a:pt x="67" y="112"/>
                    <a:pt x="67" y="112"/>
                  </a:cubicBezTo>
                  <a:cubicBezTo>
                    <a:pt x="67" y="112"/>
                    <a:pt x="67" y="112"/>
                    <a:pt x="65" y="111"/>
                  </a:cubicBezTo>
                  <a:cubicBezTo>
                    <a:pt x="64" y="111"/>
                    <a:pt x="62" y="110"/>
                    <a:pt x="60" y="108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57" y="108"/>
                    <a:pt x="55" y="107"/>
                    <a:pt x="55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2" y="103"/>
                    <a:pt x="52" y="103"/>
                    <a:pt x="52" y="103"/>
                  </a:cubicBezTo>
                  <a:cubicBezTo>
                    <a:pt x="52" y="102"/>
                    <a:pt x="51" y="102"/>
                    <a:pt x="49" y="101"/>
                  </a:cubicBezTo>
                  <a:cubicBezTo>
                    <a:pt x="47" y="100"/>
                    <a:pt x="44" y="99"/>
                    <a:pt x="43" y="96"/>
                  </a:cubicBezTo>
                  <a:cubicBezTo>
                    <a:pt x="43" y="96"/>
                    <a:pt x="42" y="96"/>
                    <a:pt x="42" y="96"/>
                  </a:cubicBezTo>
                  <a:cubicBezTo>
                    <a:pt x="39" y="96"/>
                    <a:pt x="38" y="93"/>
                    <a:pt x="37" y="92"/>
                  </a:cubicBezTo>
                  <a:cubicBezTo>
                    <a:pt x="37" y="92"/>
                    <a:pt x="37" y="91"/>
                    <a:pt x="37" y="91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35" y="91"/>
                    <a:pt x="33" y="91"/>
                    <a:pt x="31" y="89"/>
                  </a:cubicBezTo>
                  <a:cubicBezTo>
                    <a:pt x="31" y="88"/>
                    <a:pt x="30" y="87"/>
                    <a:pt x="30" y="86"/>
                  </a:cubicBezTo>
                  <a:cubicBezTo>
                    <a:pt x="25" y="84"/>
                    <a:pt x="21" y="82"/>
                    <a:pt x="16" y="80"/>
                  </a:cubicBezTo>
                  <a:cubicBezTo>
                    <a:pt x="13" y="78"/>
                    <a:pt x="10" y="76"/>
                    <a:pt x="7" y="75"/>
                  </a:cubicBezTo>
                  <a:cubicBezTo>
                    <a:pt x="4" y="74"/>
                    <a:pt x="2" y="71"/>
                    <a:pt x="1" y="68"/>
                  </a:cubicBezTo>
                  <a:cubicBezTo>
                    <a:pt x="0" y="67"/>
                    <a:pt x="0" y="65"/>
                    <a:pt x="1" y="63"/>
                  </a:cubicBezTo>
                  <a:cubicBezTo>
                    <a:pt x="2" y="62"/>
                    <a:pt x="3" y="61"/>
                    <a:pt x="6" y="62"/>
                  </a:cubicBezTo>
                  <a:cubicBezTo>
                    <a:pt x="5" y="59"/>
                    <a:pt x="7" y="57"/>
                    <a:pt x="8" y="56"/>
                  </a:cubicBezTo>
                  <a:cubicBezTo>
                    <a:pt x="9" y="55"/>
                    <a:pt x="10" y="54"/>
                    <a:pt x="11" y="53"/>
                  </a:cubicBezTo>
                  <a:cubicBezTo>
                    <a:pt x="13" y="52"/>
                    <a:pt x="14" y="52"/>
                    <a:pt x="13" y="51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7"/>
                    <a:pt x="17" y="47"/>
                  </a:cubicBezTo>
                  <a:cubicBezTo>
                    <a:pt x="18" y="47"/>
                    <a:pt x="21" y="47"/>
                    <a:pt x="22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3" y="49"/>
                    <a:pt x="25" y="50"/>
                    <a:pt x="25" y="52"/>
                  </a:cubicBezTo>
                  <a:cubicBezTo>
                    <a:pt x="26" y="53"/>
                    <a:pt x="25" y="53"/>
                    <a:pt x="25" y="54"/>
                  </a:cubicBezTo>
                  <a:cubicBezTo>
                    <a:pt x="26" y="54"/>
                    <a:pt x="26" y="54"/>
                    <a:pt x="27" y="54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8" y="54"/>
                    <a:pt x="28" y="53"/>
                    <a:pt x="28" y="52"/>
                  </a:cubicBezTo>
                  <a:cubicBezTo>
                    <a:pt x="28" y="50"/>
                    <a:pt x="29" y="49"/>
                    <a:pt x="30" y="49"/>
                  </a:cubicBezTo>
                  <a:cubicBezTo>
                    <a:pt x="32" y="48"/>
                    <a:pt x="34" y="48"/>
                    <a:pt x="35" y="50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7" y="53"/>
                    <a:pt x="38" y="55"/>
                    <a:pt x="39" y="57"/>
                  </a:cubicBezTo>
                  <a:cubicBezTo>
                    <a:pt x="39" y="58"/>
                    <a:pt x="39" y="58"/>
                    <a:pt x="39" y="58"/>
                  </a:cubicBezTo>
                  <a:cubicBezTo>
                    <a:pt x="40" y="58"/>
                    <a:pt x="41" y="58"/>
                    <a:pt x="41" y="58"/>
                  </a:cubicBezTo>
                  <a:cubicBezTo>
                    <a:pt x="41" y="58"/>
                    <a:pt x="41" y="57"/>
                    <a:pt x="41" y="56"/>
                  </a:cubicBezTo>
                  <a:cubicBezTo>
                    <a:pt x="41" y="55"/>
                    <a:pt x="41" y="54"/>
                    <a:pt x="42" y="53"/>
                  </a:cubicBezTo>
                  <a:cubicBezTo>
                    <a:pt x="42" y="52"/>
                    <a:pt x="43" y="52"/>
                    <a:pt x="45" y="52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7" y="52"/>
                    <a:pt x="49" y="53"/>
                    <a:pt x="49" y="55"/>
                  </a:cubicBezTo>
                  <a:cubicBezTo>
                    <a:pt x="50" y="57"/>
                    <a:pt x="50" y="58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0"/>
                    <a:pt x="51" y="59"/>
                    <a:pt x="52" y="59"/>
                  </a:cubicBezTo>
                  <a:cubicBezTo>
                    <a:pt x="52" y="58"/>
                    <a:pt x="52" y="57"/>
                    <a:pt x="52" y="56"/>
                  </a:cubicBezTo>
                  <a:cubicBezTo>
                    <a:pt x="53" y="55"/>
                    <a:pt x="53" y="55"/>
                    <a:pt x="55" y="54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8" y="54"/>
                    <a:pt x="59" y="56"/>
                    <a:pt x="59" y="57"/>
                  </a:cubicBezTo>
                  <a:cubicBezTo>
                    <a:pt x="61" y="58"/>
                    <a:pt x="61" y="60"/>
                    <a:pt x="62" y="61"/>
                  </a:cubicBezTo>
                  <a:cubicBezTo>
                    <a:pt x="63" y="63"/>
                    <a:pt x="63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59"/>
                    <a:pt x="66" y="57"/>
                    <a:pt x="67" y="57"/>
                  </a:cubicBezTo>
                  <a:cubicBezTo>
                    <a:pt x="67" y="57"/>
                    <a:pt x="68" y="57"/>
                    <a:pt x="68" y="57"/>
                  </a:cubicBezTo>
                  <a:cubicBezTo>
                    <a:pt x="69" y="57"/>
                    <a:pt x="71" y="57"/>
                    <a:pt x="72" y="60"/>
                  </a:cubicBezTo>
                  <a:cubicBezTo>
                    <a:pt x="72" y="60"/>
                    <a:pt x="72" y="60"/>
                    <a:pt x="72" y="60"/>
                  </a:cubicBezTo>
                  <a:cubicBezTo>
                    <a:pt x="72" y="60"/>
                    <a:pt x="72" y="61"/>
                    <a:pt x="73" y="61"/>
                  </a:cubicBezTo>
                  <a:cubicBezTo>
                    <a:pt x="74" y="63"/>
                    <a:pt x="75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6" y="64"/>
                    <a:pt x="76" y="63"/>
                    <a:pt x="75" y="62"/>
                  </a:cubicBezTo>
                  <a:cubicBezTo>
                    <a:pt x="73" y="56"/>
                    <a:pt x="73" y="56"/>
                    <a:pt x="73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2" y="59"/>
                    <a:pt x="83" y="61"/>
                    <a:pt x="85" y="63"/>
                  </a:cubicBezTo>
                  <a:cubicBezTo>
                    <a:pt x="85" y="63"/>
                    <a:pt x="86" y="64"/>
                    <a:pt x="86" y="64"/>
                  </a:cubicBezTo>
                  <a:cubicBezTo>
                    <a:pt x="87" y="65"/>
                    <a:pt x="90" y="66"/>
                    <a:pt x="92" y="66"/>
                  </a:cubicBezTo>
                  <a:cubicBezTo>
                    <a:pt x="92" y="66"/>
                    <a:pt x="92" y="65"/>
                    <a:pt x="91" y="65"/>
                  </a:cubicBezTo>
                  <a:cubicBezTo>
                    <a:pt x="91" y="64"/>
                    <a:pt x="91" y="63"/>
                    <a:pt x="91" y="61"/>
                  </a:cubicBezTo>
                  <a:cubicBezTo>
                    <a:pt x="90" y="59"/>
                    <a:pt x="91" y="57"/>
                    <a:pt x="93" y="56"/>
                  </a:cubicBezTo>
                  <a:cubicBezTo>
                    <a:pt x="94" y="55"/>
                    <a:pt x="94" y="55"/>
                    <a:pt x="94" y="55"/>
                  </a:cubicBezTo>
                  <a:cubicBezTo>
                    <a:pt x="95" y="54"/>
                    <a:pt x="96" y="54"/>
                    <a:pt x="97" y="54"/>
                  </a:cubicBezTo>
                  <a:cubicBezTo>
                    <a:pt x="99" y="54"/>
                    <a:pt x="100" y="55"/>
                    <a:pt x="101" y="57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4" y="55"/>
                    <a:pt x="107" y="55"/>
                    <a:pt x="108" y="57"/>
                  </a:cubicBezTo>
                  <a:cubicBezTo>
                    <a:pt x="109" y="58"/>
                    <a:pt x="109" y="59"/>
                    <a:pt x="109" y="61"/>
                  </a:cubicBezTo>
                  <a:cubicBezTo>
                    <a:pt x="115" y="61"/>
                    <a:pt x="121" y="62"/>
                    <a:pt x="127" y="62"/>
                  </a:cubicBezTo>
                  <a:cubicBezTo>
                    <a:pt x="136" y="63"/>
                    <a:pt x="136" y="63"/>
                    <a:pt x="136" y="63"/>
                  </a:cubicBezTo>
                  <a:cubicBezTo>
                    <a:pt x="138" y="63"/>
                    <a:pt x="138" y="62"/>
                    <a:pt x="138" y="62"/>
                  </a:cubicBezTo>
                  <a:cubicBezTo>
                    <a:pt x="139" y="60"/>
                    <a:pt x="141" y="59"/>
                    <a:pt x="141" y="59"/>
                  </a:cubicBezTo>
                  <a:cubicBezTo>
                    <a:pt x="142" y="59"/>
                    <a:pt x="143" y="60"/>
                    <a:pt x="143" y="60"/>
                  </a:cubicBezTo>
                  <a:cubicBezTo>
                    <a:pt x="144" y="59"/>
                    <a:pt x="145" y="58"/>
                    <a:pt x="146" y="58"/>
                  </a:cubicBezTo>
                  <a:cubicBezTo>
                    <a:pt x="148" y="58"/>
                    <a:pt x="150" y="61"/>
                    <a:pt x="151" y="62"/>
                  </a:cubicBezTo>
                  <a:cubicBezTo>
                    <a:pt x="151" y="62"/>
                    <a:pt x="150" y="62"/>
                    <a:pt x="150" y="62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2" y="62"/>
                    <a:pt x="152" y="62"/>
                    <a:pt x="152" y="62"/>
                  </a:cubicBezTo>
                  <a:cubicBezTo>
                    <a:pt x="157" y="62"/>
                    <a:pt x="160" y="61"/>
                    <a:pt x="163" y="58"/>
                  </a:cubicBezTo>
                  <a:cubicBezTo>
                    <a:pt x="167" y="54"/>
                    <a:pt x="170" y="51"/>
                    <a:pt x="173" y="48"/>
                  </a:cubicBezTo>
                  <a:cubicBezTo>
                    <a:pt x="173" y="47"/>
                    <a:pt x="173" y="47"/>
                    <a:pt x="173" y="47"/>
                  </a:cubicBezTo>
                  <a:cubicBezTo>
                    <a:pt x="174" y="46"/>
                    <a:pt x="174" y="46"/>
                    <a:pt x="174" y="46"/>
                  </a:cubicBezTo>
                  <a:cubicBezTo>
                    <a:pt x="175" y="44"/>
                    <a:pt x="175" y="42"/>
                    <a:pt x="176" y="40"/>
                  </a:cubicBezTo>
                  <a:cubicBezTo>
                    <a:pt x="177" y="37"/>
                    <a:pt x="178" y="34"/>
                    <a:pt x="177" y="31"/>
                  </a:cubicBezTo>
                  <a:cubicBezTo>
                    <a:pt x="177" y="31"/>
                    <a:pt x="177" y="30"/>
                    <a:pt x="177" y="29"/>
                  </a:cubicBezTo>
                  <a:cubicBezTo>
                    <a:pt x="176" y="27"/>
                    <a:pt x="175" y="24"/>
                    <a:pt x="178" y="20"/>
                  </a:cubicBezTo>
                  <a:cubicBezTo>
                    <a:pt x="178" y="20"/>
                    <a:pt x="178" y="19"/>
                    <a:pt x="178" y="19"/>
                  </a:cubicBezTo>
                  <a:cubicBezTo>
                    <a:pt x="178" y="17"/>
                    <a:pt x="178" y="15"/>
                    <a:pt x="181" y="13"/>
                  </a:cubicBezTo>
                  <a:cubicBezTo>
                    <a:pt x="181" y="13"/>
                    <a:pt x="181" y="13"/>
                    <a:pt x="181" y="12"/>
                  </a:cubicBezTo>
                  <a:cubicBezTo>
                    <a:pt x="181" y="12"/>
                    <a:pt x="181" y="11"/>
                    <a:pt x="181" y="11"/>
                  </a:cubicBezTo>
                  <a:cubicBezTo>
                    <a:pt x="181" y="7"/>
                    <a:pt x="183" y="6"/>
                    <a:pt x="185" y="6"/>
                  </a:cubicBezTo>
                  <a:cubicBezTo>
                    <a:pt x="185" y="6"/>
                    <a:pt x="185" y="6"/>
                    <a:pt x="185" y="6"/>
                  </a:cubicBezTo>
                  <a:cubicBezTo>
                    <a:pt x="186" y="6"/>
                    <a:pt x="188" y="6"/>
                    <a:pt x="188" y="7"/>
                  </a:cubicBezTo>
                  <a:cubicBezTo>
                    <a:pt x="190" y="8"/>
                    <a:pt x="190" y="10"/>
                    <a:pt x="190" y="11"/>
                  </a:cubicBezTo>
                  <a:cubicBezTo>
                    <a:pt x="189" y="11"/>
                    <a:pt x="189" y="11"/>
                    <a:pt x="189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0" y="12"/>
                    <a:pt x="190" y="12"/>
                  </a:cubicBezTo>
                  <a:cubicBezTo>
                    <a:pt x="190" y="12"/>
                    <a:pt x="191" y="11"/>
                    <a:pt x="192" y="11"/>
                  </a:cubicBezTo>
                  <a:cubicBezTo>
                    <a:pt x="194" y="10"/>
                    <a:pt x="195" y="8"/>
                    <a:pt x="196" y="5"/>
                  </a:cubicBezTo>
                  <a:cubicBezTo>
                    <a:pt x="197" y="2"/>
                    <a:pt x="199" y="1"/>
                    <a:pt x="202" y="1"/>
                  </a:cubicBezTo>
                  <a:cubicBezTo>
                    <a:pt x="204" y="1"/>
                    <a:pt x="206" y="1"/>
                    <a:pt x="207" y="2"/>
                  </a:cubicBezTo>
                  <a:cubicBezTo>
                    <a:pt x="211" y="4"/>
                    <a:pt x="213" y="11"/>
                    <a:pt x="211" y="16"/>
                  </a:cubicBezTo>
                  <a:cubicBezTo>
                    <a:pt x="211" y="17"/>
                    <a:pt x="211" y="17"/>
                    <a:pt x="211" y="18"/>
                  </a:cubicBezTo>
                  <a:cubicBezTo>
                    <a:pt x="210" y="19"/>
                    <a:pt x="210" y="20"/>
                    <a:pt x="210" y="20"/>
                  </a:cubicBezTo>
                  <a:cubicBezTo>
                    <a:pt x="209" y="21"/>
                    <a:pt x="209" y="22"/>
                    <a:pt x="209" y="22"/>
                  </a:cubicBezTo>
                  <a:cubicBezTo>
                    <a:pt x="209" y="22"/>
                    <a:pt x="209" y="23"/>
                    <a:pt x="209" y="23"/>
                  </a:cubicBezTo>
                  <a:cubicBezTo>
                    <a:pt x="209" y="23"/>
                    <a:pt x="209" y="23"/>
                    <a:pt x="209" y="23"/>
                  </a:cubicBezTo>
                  <a:cubicBezTo>
                    <a:pt x="211" y="23"/>
                    <a:pt x="211" y="23"/>
                    <a:pt x="211" y="23"/>
                  </a:cubicBezTo>
                  <a:cubicBezTo>
                    <a:pt x="211" y="25"/>
                    <a:pt x="211" y="25"/>
                    <a:pt x="211" y="25"/>
                  </a:cubicBezTo>
                  <a:cubicBezTo>
                    <a:pt x="212" y="28"/>
                    <a:pt x="213" y="28"/>
                    <a:pt x="214" y="28"/>
                  </a:cubicBezTo>
                  <a:cubicBezTo>
                    <a:pt x="215" y="28"/>
                    <a:pt x="216" y="28"/>
                    <a:pt x="217" y="27"/>
                  </a:cubicBezTo>
                  <a:cubicBezTo>
                    <a:pt x="218" y="27"/>
                    <a:pt x="219" y="27"/>
                    <a:pt x="220" y="27"/>
                  </a:cubicBezTo>
                  <a:cubicBezTo>
                    <a:pt x="275" y="27"/>
                    <a:pt x="329" y="27"/>
                    <a:pt x="384" y="27"/>
                  </a:cubicBezTo>
                  <a:cubicBezTo>
                    <a:pt x="420" y="27"/>
                    <a:pt x="456" y="27"/>
                    <a:pt x="492" y="27"/>
                  </a:cubicBezTo>
                  <a:cubicBezTo>
                    <a:pt x="493" y="27"/>
                    <a:pt x="495" y="27"/>
                    <a:pt x="496" y="27"/>
                  </a:cubicBezTo>
                  <a:cubicBezTo>
                    <a:pt x="497" y="27"/>
                    <a:pt x="498" y="27"/>
                    <a:pt x="499" y="27"/>
                  </a:cubicBezTo>
                  <a:cubicBezTo>
                    <a:pt x="499" y="27"/>
                    <a:pt x="499" y="27"/>
                    <a:pt x="499" y="27"/>
                  </a:cubicBezTo>
                  <a:cubicBezTo>
                    <a:pt x="499" y="24"/>
                    <a:pt x="501" y="23"/>
                    <a:pt x="503" y="22"/>
                  </a:cubicBezTo>
                  <a:cubicBezTo>
                    <a:pt x="502" y="20"/>
                    <a:pt x="501" y="18"/>
                    <a:pt x="500" y="16"/>
                  </a:cubicBezTo>
                  <a:cubicBezTo>
                    <a:pt x="498" y="11"/>
                    <a:pt x="499" y="6"/>
                    <a:pt x="503" y="3"/>
                  </a:cubicBezTo>
                  <a:cubicBezTo>
                    <a:pt x="506" y="0"/>
                    <a:pt x="508" y="0"/>
                    <a:pt x="511" y="1"/>
                  </a:cubicBezTo>
                  <a:cubicBezTo>
                    <a:pt x="515" y="2"/>
                    <a:pt x="517" y="5"/>
                    <a:pt x="516" y="8"/>
                  </a:cubicBezTo>
                  <a:cubicBezTo>
                    <a:pt x="516" y="8"/>
                    <a:pt x="516" y="9"/>
                    <a:pt x="516" y="9"/>
                  </a:cubicBezTo>
                  <a:cubicBezTo>
                    <a:pt x="517" y="9"/>
                    <a:pt x="517" y="9"/>
                    <a:pt x="517" y="9"/>
                  </a:cubicBezTo>
                  <a:cubicBezTo>
                    <a:pt x="519" y="9"/>
                    <a:pt x="520" y="10"/>
                    <a:pt x="521" y="11"/>
                  </a:cubicBezTo>
                  <a:cubicBezTo>
                    <a:pt x="521" y="10"/>
                    <a:pt x="521" y="10"/>
                    <a:pt x="521" y="9"/>
                  </a:cubicBezTo>
                  <a:cubicBezTo>
                    <a:pt x="521" y="7"/>
                    <a:pt x="523" y="5"/>
                    <a:pt x="526" y="5"/>
                  </a:cubicBezTo>
                  <a:cubicBezTo>
                    <a:pt x="528" y="5"/>
                    <a:pt x="529" y="6"/>
                    <a:pt x="529" y="6"/>
                  </a:cubicBezTo>
                  <a:cubicBezTo>
                    <a:pt x="531" y="8"/>
                    <a:pt x="530" y="9"/>
                    <a:pt x="530" y="10"/>
                  </a:cubicBezTo>
                  <a:cubicBezTo>
                    <a:pt x="530" y="11"/>
                    <a:pt x="530" y="11"/>
                    <a:pt x="530" y="12"/>
                  </a:cubicBezTo>
                  <a:cubicBezTo>
                    <a:pt x="530" y="12"/>
                    <a:pt x="530" y="13"/>
                    <a:pt x="530" y="13"/>
                  </a:cubicBezTo>
                  <a:cubicBezTo>
                    <a:pt x="531" y="13"/>
                    <a:pt x="534" y="13"/>
                    <a:pt x="534" y="17"/>
                  </a:cubicBezTo>
                  <a:cubicBezTo>
                    <a:pt x="534" y="18"/>
                    <a:pt x="534" y="19"/>
                    <a:pt x="534" y="20"/>
                  </a:cubicBezTo>
                  <a:cubicBezTo>
                    <a:pt x="534" y="22"/>
                    <a:pt x="534" y="22"/>
                    <a:pt x="535" y="23"/>
                  </a:cubicBezTo>
                  <a:cubicBezTo>
                    <a:pt x="536" y="23"/>
                    <a:pt x="536" y="24"/>
                    <a:pt x="536" y="25"/>
                  </a:cubicBezTo>
                  <a:cubicBezTo>
                    <a:pt x="536" y="26"/>
                    <a:pt x="536" y="27"/>
                    <a:pt x="536" y="28"/>
                  </a:cubicBezTo>
                  <a:cubicBezTo>
                    <a:pt x="534" y="30"/>
                    <a:pt x="534" y="32"/>
                    <a:pt x="535" y="36"/>
                  </a:cubicBezTo>
                  <a:cubicBezTo>
                    <a:pt x="535" y="37"/>
                    <a:pt x="535" y="38"/>
                    <a:pt x="536" y="39"/>
                  </a:cubicBezTo>
                  <a:cubicBezTo>
                    <a:pt x="537" y="49"/>
                    <a:pt x="544" y="54"/>
                    <a:pt x="551" y="60"/>
                  </a:cubicBezTo>
                  <a:cubicBezTo>
                    <a:pt x="552" y="61"/>
                    <a:pt x="552" y="61"/>
                    <a:pt x="552" y="61"/>
                  </a:cubicBezTo>
                  <a:cubicBezTo>
                    <a:pt x="553" y="62"/>
                    <a:pt x="554" y="62"/>
                    <a:pt x="556" y="62"/>
                  </a:cubicBezTo>
                  <a:cubicBezTo>
                    <a:pt x="557" y="62"/>
                    <a:pt x="558" y="62"/>
                    <a:pt x="559" y="62"/>
                  </a:cubicBezTo>
                  <a:cubicBezTo>
                    <a:pt x="559" y="62"/>
                    <a:pt x="560" y="62"/>
                    <a:pt x="561" y="62"/>
                  </a:cubicBezTo>
                  <a:cubicBezTo>
                    <a:pt x="561" y="62"/>
                    <a:pt x="561" y="61"/>
                    <a:pt x="561" y="61"/>
                  </a:cubicBezTo>
                  <a:cubicBezTo>
                    <a:pt x="562" y="60"/>
                    <a:pt x="563" y="57"/>
                    <a:pt x="569" y="59"/>
                  </a:cubicBezTo>
                  <a:cubicBezTo>
                    <a:pt x="569" y="60"/>
                    <a:pt x="570" y="60"/>
                    <a:pt x="571" y="60"/>
                  </a:cubicBezTo>
                  <a:cubicBezTo>
                    <a:pt x="572" y="61"/>
                    <a:pt x="574" y="62"/>
                    <a:pt x="575" y="62"/>
                  </a:cubicBezTo>
                  <a:cubicBezTo>
                    <a:pt x="584" y="62"/>
                    <a:pt x="595" y="61"/>
                    <a:pt x="605" y="60"/>
                  </a:cubicBezTo>
                  <a:cubicBezTo>
                    <a:pt x="605" y="58"/>
                    <a:pt x="605" y="57"/>
                    <a:pt x="606" y="56"/>
                  </a:cubicBezTo>
                  <a:cubicBezTo>
                    <a:pt x="607" y="55"/>
                    <a:pt x="609" y="54"/>
                    <a:pt x="612" y="56"/>
                  </a:cubicBezTo>
                  <a:cubicBezTo>
                    <a:pt x="613" y="56"/>
                    <a:pt x="613" y="56"/>
                    <a:pt x="613" y="56"/>
                  </a:cubicBezTo>
                  <a:cubicBezTo>
                    <a:pt x="614" y="56"/>
                    <a:pt x="614" y="56"/>
                    <a:pt x="614" y="56"/>
                  </a:cubicBezTo>
                  <a:cubicBezTo>
                    <a:pt x="615" y="54"/>
                    <a:pt x="617" y="54"/>
                    <a:pt x="618" y="54"/>
                  </a:cubicBezTo>
                  <a:cubicBezTo>
                    <a:pt x="619" y="54"/>
                    <a:pt x="620" y="55"/>
                    <a:pt x="620" y="55"/>
                  </a:cubicBezTo>
                  <a:cubicBezTo>
                    <a:pt x="622" y="56"/>
                    <a:pt x="623" y="57"/>
                    <a:pt x="623" y="58"/>
                  </a:cubicBezTo>
                  <a:cubicBezTo>
                    <a:pt x="624" y="59"/>
                    <a:pt x="623" y="61"/>
                    <a:pt x="623" y="61"/>
                  </a:cubicBezTo>
                  <a:cubicBezTo>
                    <a:pt x="622" y="62"/>
                    <a:pt x="622" y="63"/>
                    <a:pt x="622" y="64"/>
                  </a:cubicBezTo>
                  <a:cubicBezTo>
                    <a:pt x="621" y="64"/>
                    <a:pt x="621" y="64"/>
                    <a:pt x="621" y="64"/>
                  </a:cubicBezTo>
                  <a:cubicBezTo>
                    <a:pt x="621" y="65"/>
                    <a:pt x="621" y="65"/>
                    <a:pt x="621" y="65"/>
                  </a:cubicBezTo>
                  <a:cubicBezTo>
                    <a:pt x="621" y="65"/>
                    <a:pt x="622" y="66"/>
                    <a:pt x="623" y="66"/>
                  </a:cubicBezTo>
                  <a:cubicBezTo>
                    <a:pt x="626" y="66"/>
                    <a:pt x="628" y="64"/>
                    <a:pt x="630" y="61"/>
                  </a:cubicBezTo>
                  <a:cubicBezTo>
                    <a:pt x="631" y="61"/>
                    <a:pt x="631" y="60"/>
                    <a:pt x="632" y="59"/>
                  </a:cubicBezTo>
                  <a:cubicBezTo>
                    <a:pt x="633" y="58"/>
                    <a:pt x="633" y="58"/>
                    <a:pt x="633" y="58"/>
                  </a:cubicBezTo>
                  <a:cubicBezTo>
                    <a:pt x="635" y="59"/>
                    <a:pt x="635" y="59"/>
                    <a:pt x="635" y="59"/>
                  </a:cubicBezTo>
                  <a:cubicBezTo>
                    <a:pt x="636" y="59"/>
                    <a:pt x="638" y="61"/>
                    <a:pt x="637" y="64"/>
                  </a:cubicBezTo>
                  <a:cubicBezTo>
                    <a:pt x="638" y="64"/>
                    <a:pt x="639" y="64"/>
                    <a:pt x="639" y="64"/>
                  </a:cubicBezTo>
                  <a:cubicBezTo>
                    <a:pt x="640" y="62"/>
                    <a:pt x="641" y="61"/>
                    <a:pt x="642" y="61"/>
                  </a:cubicBezTo>
                  <a:cubicBezTo>
                    <a:pt x="642" y="60"/>
                    <a:pt x="643" y="60"/>
                    <a:pt x="643" y="59"/>
                  </a:cubicBezTo>
                  <a:cubicBezTo>
                    <a:pt x="643" y="57"/>
                    <a:pt x="646" y="56"/>
                    <a:pt x="648" y="57"/>
                  </a:cubicBezTo>
                  <a:cubicBezTo>
                    <a:pt x="649" y="57"/>
                    <a:pt x="650" y="59"/>
                    <a:pt x="650" y="61"/>
                  </a:cubicBezTo>
                  <a:cubicBezTo>
                    <a:pt x="650" y="62"/>
                    <a:pt x="650" y="62"/>
                    <a:pt x="649" y="63"/>
                  </a:cubicBezTo>
                  <a:cubicBezTo>
                    <a:pt x="651" y="63"/>
                    <a:pt x="651" y="63"/>
                    <a:pt x="652" y="62"/>
                  </a:cubicBezTo>
                  <a:cubicBezTo>
                    <a:pt x="652" y="60"/>
                    <a:pt x="653" y="59"/>
                    <a:pt x="654" y="58"/>
                  </a:cubicBezTo>
                  <a:cubicBezTo>
                    <a:pt x="654" y="58"/>
                    <a:pt x="655" y="58"/>
                    <a:pt x="655" y="57"/>
                  </a:cubicBezTo>
                  <a:cubicBezTo>
                    <a:pt x="656" y="56"/>
                    <a:pt x="656" y="54"/>
                    <a:pt x="659" y="54"/>
                  </a:cubicBezTo>
                  <a:cubicBezTo>
                    <a:pt x="659" y="54"/>
                    <a:pt x="660" y="55"/>
                    <a:pt x="660" y="55"/>
                  </a:cubicBezTo>
                  <a:cubicBezTo>
                    <a:pt x="661" y="55"/>
                    <a:pt x="663" y="56"/>
                    <a:pt x="662" y="59"/>
                  </a:cubicBezTo>
                  <a:cubicBezTo>
                    <a:pt x="663" y="59"/>
                    <a:pt x="663" y="60"/>
                    <a:pt x="662" y="61"/>
                  </a:cubicBezTo>
                  <a:cubicBezTo>
                    <a:pt x="663" y="61"/>
                    <a:pt x="664" y="60"/>
                    <a:pt x="665" y="60"/>
                  </a:cubicBezTo>
                  <a:cubicBezTo>
                    <a:pt x="666" y="59"/>
                    <a:pt x="667" y="57"/>
                    <a:pt x="668" y="56"/>
                  </a:cubicBezTo>
                  <a:cubicBezTo>
                    <a:pt x="668" y="52"/>
                    <a:pt x="670" y="52"/>
                    <a:pt x="671" y="52"/>
                  </a:cubicBezTo>
                  <a:cubicBezTo>
                    <a:pt x="672" y="52"/>
                    <a:pt x="672" y="52"/>
                    <a:pt x="672" y="52"/>
                  </a:cubicBezTo>
                  <a:cubicBezTo>
                    <a:pt x="673" y="52"/>
                    <a:pt x="675" y="53"/>
                    <a:pt x="675" y="56"/>
                  </a:cubicBezTo>
                  <a:cubicBezTo>
                    <a:pt x="675" y="57"/>
                    <a:pt x="675" y="57"/>
                    <a:pt x="675" y="58"/>
                  </a:cubicBezTo>
                  <a:cubicBezTo>
                    <a:pt x="677" y="58"/>
                    <a:pt x="678" y="58"/>
                    <a:pt x="678" y="56"/>
                  </a:cubicBezTo>
                  <a:cubicBezTo>
                    <a:pt x="678" y="54"/>
                    <a:pt x="679" y="53"/>
                    <a:pt x="681" y="51"/>
                  </a:cubicBezTo>
                  <a:cubicBezTo>
                    <a:pt x="681" y="50"/>
                    <a:pt x="682" y="50"/>
                    <a:pt x="682" y="49"/>
                  </a:cubicBezTo>
                  <a:cubicBezTo>
                    <a:pt x="685" y="45"/>
                    <a:pt x="685" y="45"/>
                    <a:pt x="685" y="45"/>
                  </a:cubicBezTo>
                  <a:cubicBezTo>
                    <a:pt x="687" y="50"/>
                    <a:pt x="687" y="50"/>
                    <a:pt x="687" y="50"/>
                  </a:cubicBezTo>
                  <a:cubicBezTo>
                    <a:pt x="687" y="50"/>
                    <a:pt x="688" y="51"/>
                    <a:pt x="688" y="51"/>
                  </a:cubicBezTo>
                  <a:cubicBezTo>
                    <a:pt x="688" y="53"/>
                    <a:pt x="689" y="54"/>
                    <a:pt x="689" y="54"/>
                  </a:cubicBezTo>
                  <a:cubicBezTo>
                    <a:pt x="689" y="54"/>
                    <a:pt x="690" y="54"/>
                    <a:pt x="691" y="54"/>
                  </a:cubicBezTo>
                  <a:cubicBezTo>
                    <a:pt x="690" y="53"/>
                    <a:pt x="690" y="52"/>
                    <a:pt x="691" y="51"/>
                  </a:cubicBezTo>
                  <a:cubicBezTo>
                    <a:pt x="692" y="49"/>
                    <a:pt x="694" y="49"/>
                    <a:pt x="695" y="48"/>
                  </a:cubicBezTo>
                  <a:cubicBezTo>
                    <a:pt x="695" y="48"/>
                    <a:pt x="695" y="48"/>
                    <a:pt x="695" y="48"/>
                  </a:cubicBezTo>
                  <a:cubicBezTo>
                    <a:pt x="696" y="48"/>
                    <a:pt x="697" y="47"/>
                    <a:pt x="698" y="47"/>
                  </a:cubicBezTo>
                  <a:cubicBezTo>
                    <a:pt x="699" y="47"/>
                    <a:pt x="699" y="47"/>
                    <a:pt x="699" y="47"/>
                  </a:cubicBezTo>
                  <a:cubicBezTo>
                    <a:pt x="701" y="48"/>
                    <a:pt x="701" y="48"/>
                    <a:pt x="701" y="48"/>
                  </a:cubicBezTo>
                  <a:cubicBezTo>
                    <a:pt x="702" y="49"/>
                    <a:pt x="702" y="50"/>
                    <a:pt x="702" y="52"/>
                  </a:cubicBezTo>
                  <a:cubicBezTo>
                    <a:pt x="702" y="52"/>
                    <a:pt x="702" y="52"/>
                    <a:pt x="703" y="53"/>
                  </a:cubicBezTo>
                  <a:cubicBezTo>
                    <a:pt x="704" y="54"/>
                    <a:pt x="705" y="55"/>
                    <a:pt x="706" y="57"/>
                  </a:cubicBezTo>
                  <a:cubicBezTo>
                    <a:pt x="706" y="57"/>
                    <a:pt x="707" y="57"/>
                    <a:pt x="707" y="58"/>
                  </a:cubicBezTo>
                  <a:cubicBezTo>
                    <a:pt x="707" y="59"/>
                    <a:pt x="708" y="59"/>
                    <a:pt x="708" y="60"/>
                  </a:cubicBezTo>
                  <a:cubicBezTo>
                    <a:pt x="708" y="62"/>
                    <a:pt x="709" y="62"/>
                    <a:pt x="709" y="62"/>
                  </a:cubicBezTo>
                  <a:cubicBezTo>
                    <a:pt x="709" y="62"/>
                    <a:pt x="710" y="62"/>
                    <a:pt x="711" y="62"/>
                  </a:cubicBezTo>
                  <a:cubicBezTo>
                    <a:pt x="714" y="60"/>
                    <a:pt x="714" y="60"/>
                    <a:pt x="714" y="60"/>
                  </a:cubicBezTo>
                  <a:cubicBezTo>
                    <a:pt x="715" y="63"/>
                    <a:pt x="715" y="63"/>
                    <a:pt x="715" y="63"/>
                  </a:cubicBezTo>
                  <a:cubicBezTo>
                    <a:pt x="716" y="69"/>
                    <a:pt x="714" y="72"/>
                    <a:pt x="709" y="75"/>
                  </a:cubicBezTo>
                  <a:cubicBezTo>
                    <a:pt x="707" y="76"/>
                    <a:pt x="705" y="77"/>
                    <a:pt x="704" y="77"/>
                  </a:cubicBezTo>
                  <a:cubicBezTo>
                    <a:pt x="701" y="78"/>
                    <a:pt x="699" y="79"/>
                    <a:pt x="697" y="81"/>
                  </a:cubicBezTo>
                  <a:cubicBezTo>
                    <a:pt x="695" y="82"/>
                    <a:pt x="694" y="82"/>
                    <a:pt x="693" y="83"/>
                  </a:cubicBezTo>
                  <a:cubicBezTo>
                    <a:pt x="689" y="84"/>
                    <a:pt x="686" y="86"/>
                    <a:pt x="684" y="89"/>
                  </a:cubicBezTo>
                  <a:cubicBezTo>
                    <a:pt x="684" y="90"/>
                    <a:pt x="684" y="90"/>
                    <a:pt x="684" y="90"/>
                  </a:cubicBezTo>
                  <a:cubicBezTo>
                    <a:pt x="682" y="90"/>
                    <a:pt x="682" y="90"/>
                    <a:pt x="682" y="90"/>
                  </a:cubicBezTo>
                  <a:cubicBezTo>
                    <a:pt x="680" y="90"/>
                    <a:pt x="679" y="91"/>
                    <a:pt x="678" y="93"/>
                  </a:cubicBezTo>
                  <a:cubicBezTo>
                    <a:pt x="676" y="94"/>
                    <a:pt x="675" y="95"/>
                    <a:pt x="673" y="96"/>
                  </a:cubicBezTo>
                  <a:cubicBezTo>
                    <a:pt x="671" y="97"/>
                    <a:pt x="670" y="98"/>
                    <a:pt x="668" y="99"/>
                  </a:cubicBezTo>
                  <a:cubicBezTo>
                    <a:pt x="666" y="101"/>
                    <a:pt x="665" y="101"/>
                    <a:pt x="663" y="102"/>
                  </a:cubicBezTo>
                  <a:cubicBezTo>
                    <a:pt x="662" y="103"/>
                    <a:pt x="661" y="104"/>
                    <a:pt x="660" y="104"/>
                  </a:cubicBezTo>
                  <a:cubicBezTo>
                    <a:pt x="659" y="106"/>
                    <a:pt x="656" y="108"/>
                    <a:pt x="653" y="108"/>
                  </a:cubicBezTo>
                  <a:cubicBezTo>
                    <a:pt x="651" y="109"/>
                    <a:pt x="648" y="110"/>
                    <a:pt x="647" y="112"/>
                  </a:cubicBezTo>
                  <a:cubicBezTo>
                    <a:pt x="645" y="114"/>
                    <a:pt x="641" y="116"/>
                    <a:pt x="639" y="117"/>
                  </a:cubicBezTo>
                  <a:cubicBezTo>
                    <a:pt x="637" y="117"/>
                    <a:pt x="636" y="118"/>
                    <a:pt x="635" y="119"/>
                  </a:cubicBezTo>
                  <a:cubicBezTo>
                    <a:pt x="634" y="119"/>
                    <a:pt x="632" y="120"/>
                    <a:pt x="631" y="120"/>
                  </a:cubicBezTo>
                  <a:cubicBezTo>
                    <a:pt x="628" y="122"/>
                    <a:pt x="625" y="123"/>
                    <a:pt x="622" y="125"/>
                  </a:cubicBezTo>
                  <a:cubicBezTo>
                    <a:pt x="616" y="127"/>
                    <a:pt x="610" y="130"/>
                    <a:pt x="604" y="132"/>
                  </a:cubicBezTo>
                  <a:cubicBezTo>
                    <a:pt x="603" y="132"/>
                    <a:pt x="602" y="133"/>
                    <a:pt x="601" y="133"/>
                  </a:cubicBezTo>
                  <a:cubicBezTo>
                    <a:pt x="601" y="133"/>
                    <a:pt x="601" y="133"/>
                    <a:pt x="601" y="133"/>
                  </a:cubicBezTo>
                  <a:lnTo>
                    <a:pt x="113" y="133"/>
                  </a:lnTo>
                  <a:close/>
                  <a:moveTo>
                    <a:pt x="71" y="110"/>
                  </a:moveTo>
                  <a:cubicBezTo>
                    <a:pt x="75" y="111"/>
                    <a:pt x="79" y="112"/>
                    <a:pt x="82" y="114"/>
                  </a:cubicBezTo>
                  <a:cubicBezTo>
                    <a:pt x="84" y="115"/>
                    <a:pt x="85" y="116"/>
                    <a:pt x="87" y="117"/>
                  </a:cubicBezTo>
                  <a:cubicBezTo>
                    <a:pt x="96" y="121"/>
                    <a:pt x="105" y="125"/>
                    <a:pt x="113" y="128"/>
                  </a:cubicBezTo>
                  <a:cubicBezTo>
                    <a:pt x="599" y="128"/>
                    <a:pt x="599" y="128"/>
                    <a:pt x="599" y="128"/>
                  </a:cubicBezTo>
                  <a:cubicBezTo>
                    <a:pt x="600" y="128"/>
                    <a:pt x="601" y="127"/>
                    <a:pt x="602" y="127"/>
                  </a:cubicBezTo>
                  <a:cubicBezTo>
                    <a:pt x="608" y="125"/>
                    <a:pt x="614" y="123"/>
                    <a:pt x="620" y="120"/>
                  </a:cubicBezTo>
                  <a:cubicBezTo>
                    <a:pt x="623" y="118"/>
                    <a:pt x="626" y="117"/>
                    <a:pt x="629" y="116"/>
                  </a:cubicBezTo>
                  <a:cubicBezTo>
                    <a:pt x="630" y="115"/>
                    <a:pt x="631" y="114"/>
                    <a:pt x="632" y="114"/>
                  </a:cubicBezTo>
                  <a:cubicBezTo>
                    <a:pt x="634" y="113"/>
                    <a:pt x="635" y="112"/>
                    <a:pt x="637" y="112"/>
                  </a:cubicBezTo>
                  <a:cubicBezTo>
                    <a:pt x="638" y="111"/>
                    <a:pt x="641" y="110"/>
                    <a:pt x="643" y="108"/>
                  </a:cubicBezTo>
                  <a:cubicBezTo>
                    <a:pt x="645" y="106"/>
                    <a:pt x="649" y="104"/>
                    <a:pt x="652" y="103"/>
                  </a:cubicBezTo>
                  <a:cubicBezTo>
                    <a:pt x="654" y="103"/>
                    <a:pt x="655" y="102"/>
                    <a:pt x="657" y="100"/>
                  </a:cubicBezTo>
                  <a:cubicBezTo>
                    <a:pt x="658" y="99"/>
                    <a:pt x="659" y="98"/>
                    <a:pt x="661" y="98"/>
                  </a:cubicBezTo>
                  <a:cubicBezTo>
                    <a:pt x="662" y="97"/>
                    <a:pt x="663" y="96"/>
                    <a:pt x="665" y="95"/>
                  </a:cubicBezTo>
                  <a:cubicBezTo>
                    <a:pt x="667" y="94"/>
                    <a:pt x="669" y="92"/>
                    <a:pt x="671" y="91"/>
                  </a:cubicBezTo>
                  <a:cubicBezTo>
                    <a:pt x="672" y="91"/>
                    <a:pt x="673" y="90"/>
                    <a:pt x="674" y="89"/>
                  </a:cubicBezTo>
                  <a:cubicBezTo>
                    <a:pt x="676" y="87"/>
                    <a:pt x="677" y="86"/>
                    <a:pt x="680" y="85"/>
                  </a:cubicBezTo>
                  <a:cubicBezTo>
                    <a:pt x="683" y="81"/>
                    <a:pt x="687" y="79"/>
                    <a:pt x="691" y="78"/>
                  </a:cubicBezTo>
                  <a:cubicBezTo>
                    <a:pt x="692" y="77"/>
                    <a:pt x="693" y="77"/>
                    <a:pt x="694" y="76"/>
                  </a:cubicBezTo>
                  <a:cubicBezTo>
                    <a:pt x="697" y="75"/>
                    <a:pt x="699" y="74"/>
                    <a:pt x="701" y="73"/>
                  </a:cubicBezTo>
                  <a:cubicBezTo>
                    <a:pt x="703" y="72"/>
                    <a:pt x="705" y="71"/>
                    <a:pt x="706" y="70"/>
                  </a:cubicBezTo>
                  <a:cubicBezTo>
                    <a:pt x="708" y="70"/>
                    <a:pt x="709" y="69"/>
                    <a:pt x="709" y="68"/>
                  </a:cubicBezTo>
                  <a:cubicBezTo>
                    <a:pt x="707" y="68"/>
                    <a:pt x="704" y="67"/>
                    <a:pt x="703" y="62"/>
                  </a:cubicBezTo>
                  <a:cubicBezTo>
                    <a:pt x="703" y="62"/>
                    <a:pt x="702" y="61"/>
                    <a:pt x="702" y="60"/>
                  </a:cubicBezTo>
                  <a:cubicBezTo>
                    <a:pt x="702" y="60"/>
                    <a:pt x="701" y="59"/>
                    <a:pt x="701" y="58"/>
                  </a:cubicBezTo>
                  <a:cubicBezTo>
                    <a:pt x="701" y="58"/>
                    <a:pt x="700" y="57"/>
                    <a:pt x="700" y="57"/>
                  </a:cubicBezTo>
                  <a:cubicBezTo>
                    <a:pt x="699" y="56"/>
                    <a:pt x="698" y="55"/>
                    <a:pt x="697" y="54"/>
                  </a:cubicBezTo>
                  <a:cubicBezTo>
                    <a:pt x="697" y="55"/>
                    <a:pt x="697" y="55"/>
                    <a:pt x="697" y="55"/>
                  </a:cubicBezTo>
                  <a:cubicBezTo>
                    <a:pt x="697" y="57"/>
                    <a:pt x="695" y="57"/>
                    <a:pt x="695" y="58"/>
                  </a:cubicBezTo>
                  <a:cubicBezTo>
                    <a:pt x="693" y="59"/>
                    <a:pt x="691" y="60"/>
                    <a:pt x="689" y="60"/>
                  </a:cubicBezTo>
                  <a:cubicBezTo>
                    <a:pt x="687" y="60"/>
                    <a:pt x="685" y="59"/>
                    <a:pt x="684" y="56"/>
                  </a:cubicBezTo>
                  <a:cubicBezTo>
                    <a:pt x="683" y="56"/>
                    <a:pt x="683" y="57"/>
                    <a:pt x="683" y="57"/>
                  </a:cubicBezTo>
                  <a:cubicBezTo>
                    <a:pt x="682" y="63"/>
                    <a:pt x="677" y="63"/>
                    <a:pt x="675" y="63"/>
                  </a:cubicBezTo>
                  <a:cubicBezTo>
                    <a:pt x="674" y="63"/>
                    <a:pt x="674" y="63"/>
                    <a:pt x="674" y="63"/>
                  </a:cubicBezTo>
                  <a:cubicBezTo>
                    <a:pt x="672" y="63"/>
                    <a:pt x="671" y="63"/>
                    <a:pt x="671" y="62"/>
                  </a:cubicBezTo>
                  <a:cubicBezTo>
                    <a:pt x="671" y="62"/>
                    <a:pt x="670" y="62"/>
                    <a:pt x="670" y="62"/>
                  </a:cubicBezTo>
                  <a:cubicBezTo>
                    <a:pt x="670" y="62"/>
                    <a:pt x="670" y="63"/>
                    <a:pt x="669" y="63"/>
                  </a:cubicBezTo>
                  <a:cubicBezTo>
                    <a:pt x="667" y="66"/>
                    <a:pt x="663" y="67"/>
                    <a:pt x="660" y="66"/>
                  </a:cubicBezTo>
                  <a:cubicBezTo>
                    <a:pt x="658" y="66"/>
                    <a:pt x="657" y="65"/>
                    <a:pt x="657" y="64"/>
                  </a:cubicBezTo>
                  <a:cubicBezTo>
                    <a:pt x="657" y="64"/>
                    <a:pt x="657" y="64"/>
                    <a:pt x="657" y="64"/>
                  </a:cubicBezTo>
                  <a:cubicBezTo>
                    <a:pt x="656" y="67"/>
                    <a:pt x="653" y="68"/>
                    <a:pt x="650" y="68"/>
                  </a:cubicBezTo>
                  <a:cubicBezTo>
                    <a:pt x="649" y="68"/>
                    <a:pt x="648" y="68"/>
                    <a:pt x="647" y="68"/>
                  </a:cubicBezTo>
                  <a:cubicBezTo>
                    <a:pt x="645" y="68"/>
                    <a:pt x="645" y="67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4" y="66"/>
                    <a:pt x="644" y="66"/>
                    <a:pt x="644" y="66"/>
                  </a:cubicBezTo>
                  <a:cubicBezTo>
                    <a:pt x="643" y="69"/>
                    <a:pt x="639" y="70"/>
                    <a:pt x="637" y="70"/>
                  </a:cubicBezTo>
                  <a:cubicBezTo>
                    <a:pt x="637" y="70"/>
                    <a:pt x="636" y="70"/>
                    <a:pt x="636" y="70"/>
                  </a:cubicBezTo>
                  <a:cubicBezTo>
                    <a:pt x="636" y="70"/>
                    <a:pt x="636" y="70"/>
                    <a:pt x="636" y="70"/>
                  </a:cubicBezTo>
                  <a:cubicBezTo>
                    <a:pt x="634" y="70"/>
                    <a:pt x="633" y="69"/>
                    <a:pt x="633" y="69"/>
                  </a:cubicBezTo>
                  <a:cubicBezTo>
                    <a:pt x="632" y="68"/>
                    <a:pt x="632" y="68"/>
                    <a:pt x="632" y="67"/>
                  </a:cubicBezTo>
                  <a:cubicBezTo>
                    <a:pt x="630" y="69"/>
                    <a:pt x="627" y="71"/>
                    <a:pt x="622" y="71"/>
                  </a:cubicBezTo>
                  <a:cubicBezTo>
                    <a:pt x="620" y="71"/>
                    <a:pt x="618" y="70"/>
                    <a:pt x="616" y="69"/>
                  </a:cubicBezTo>
                  <a:cubicBezTo>
                    <a:pt x="615" y="67"/>
                    <a:pt x="615" y="65"/>
                    <a:pt x="616" y="63"/>
                  </a:cubicBezTo>
                  <a:cubicBezTo>
                    <a:pt x="616" y="62"/>
                    <a:pt x="617" y="61"/>
                    <a:pt x="617" y="61"/>
                  </a:cubicBezTo>
                  <a:cubicBezTo>
                    <a:pt x="617" y="60"/>
                    <a:pt x="617" y="60"/>
                    <a:pt x="618" y="60"/>
                  </a:cubicBezTo>
                  <a:cubicBezTo>
                    <a:pt x="618" y="60"/>
                    <a:pt x="618" y="60"/>
                    <a:pt x="618" y="60"/>
                  </a:cubicBezTo>
                  <a:cubicBezTo>
                    <a:pt x="616" y="61"/>
                    <a:pt x="615" y="61"/>
                    <a:pt x="613" y="61"/>
                  </a:cubicBezTo>
                  <a:cubicBezTo>
                    <a:pt x="612" y="61"/>
                    <a:pt x="611" y="61"/>
                    <a:pt x="610" y="61"/>
                  </a:cubicBezTo>
                  <a:cubicBezTo>
                    <a:pt x="610" y="62"/>
                    <a:pt x="610" y="63"/>
                    <a:pt x="609" y="64"/>
                  </a:cubicBezTo>
                  <a:cubicBezTo>
                    <a:pt x="608" y="65"/>
                    <a:pt x="607" y="65"/>
                    <a:pt x="606" y="66"/>
                  </a:cubicBezTo>
                  <a:cubicBezTo>
                    <a:pt x="595" y="67"/>
                    <a:pt x="585" y="67"/>
                    <a:pt x="576" y="67"/>
                  </a:cubicBezTo>
                  <a:cubicBezTo>
                    <a:pt x="576" y="67"/>
                    <a:pt x="576" y="67"/>
                    <a:pt x="576" y="67"/>
                  </a:cubicBezTo>
                  <a:cubicBezTo>
                    <a:pt x="572" y="67"/>
                    <a:pt x="570" y="66"/>
                    <a:pt x="568" y="65"/>
                  </a:cubicBezTo>
                  <a:cubicBezTo>
                    <a:pt x="568" y="65"/>
                    <a:pt x="567" y="64"/>
                    <a:pt x="567" y="64"/>
                  </a:cubicBezTo>
                  <a:cubicBezTo>
                    <a:pt x="566" y="64"/>
                    <a:pt x="566" y="64"/>
                    <a:pt x="566" y="64"/>
                  </a:cubicBezTo>
                  <a:cubicBezTo>
                    <a:pt x="566" y="64"/>
                    <a:pt x="566" y="64"/>
                    <a:pt x="565" y="64"/>
                  </a:cubicBezTo>
                  <a:cubicBezTo>
                    <a:pt x="565" y="65"/>
                    <a:pt x="564" y="67"/>
                    <a:pt x="562" y="67"/>
                  </a:cubicBezTo>
                  <a:cubicBezTo>
                    <a:pt x="561" y="67"/>
                    <a:pt x="560" y="67"/>
                    <a:pt x="559" y="67"/>
                  </a:cubicBezTo>
                  <a:cubicBezTo>
                    <a:pt x="558" y="67"/>
                    <a:pt x="557" y="67"/>
                    <a:pt x="556" y="67"/>
                  </a:cubicBezTo>
                  <a:cubicBezTo>
                    <a:pt x="554" y="67"/>
                    <a:pt x="551" y="67"/>
                    <a:pt x="549" y="65"/>
                  </a:cubicBezTo>
                  <a:cubicBezTo>
                    <a:pt x="547" y="64"/>
                    <a:pt x="547" y="64"/>
                    <a:pt x="547" y="64"/>
                  </a:cubicBezTo>
                  <a:cubicBezTo>
                    <a:pt x="540" y="58"/>
                    <a:pt x="532" y="52"/>
                    <a:pt x="530" y="40"/>
                  </a:cubicBezTo>
                  <a:cubicBezTo>
                    <a:pt x="530" y="39"/>
                    <a:pt x="530" y="38"/>
                    <a:pt x="530" y="37"/>
                  </a:cubicBezTo>
                  <a:cubicBezTo>
                    <a:pt x="529" y="34"/>
                    <a:pt x="528" y="30"/>
                    <a:pt x="530" y="26"/>
                  </a:cubicBezTo>
                  <a:cubicBezTo>
                    <a:pt x="529" y="24"/>
                    <a:pt x="529" y="22"/>
                    <a:pt x="529" y="20"/>
                  </a:cubicBezTo>
                  <a:cubicBezTo>
                    <a:pt x="529" y="19"/>
                    <a:pt x="529" y="19"/>
                    <a:pt x="529" y="18"/>
                  </a:cubicBezTo>
                  <a:cubicBezTo>
                    <a:pt x="529" y="18"/>
                    <a:pt x="529" y="18"/>
                    <a:pt x="529" y="18"/>
                  </a:cubicBezTo>
                  <a:cubicBezTo>
                    <a:pt x="528" y="18"/>
                    <a:pt x="527" y="17"/>
                    <a:pt x="526" y="16"/>
                  </a:cubicBezTo>
                  <a:cubicBezTo>
                    <a:pt x="526" y="17"/>
                    <a:pt x="525" y="17"/>
                    <a:pt x="525" y="17"/>
                  </a:cubicBezTo>
                  <a:cubicBezTo>
                    <a:pt x="522" y="19"/>
                    <a:pt x="520" y="17"/>
                    <a:pt x="519" y="17"/>
                  </a:cubicBezTo>
                  <a:cubicBezTo>
                    <a:pt x="518" y="16"/>
                    <a:pt x="518" y="15"/>
                    <a:pt x="518" y="15"/>
                  </a:cubicBezTo>
                  <a:cubicBezTo>
                    <a:pt x="517" y="14"/>
                    <a:pt x="517" y="14"/>
                    <a:pt x="517" y="14"/>
                  </a:cubicBezTo>
                  <a:cubicBezTo>
                    <a:pt x="516" y="14"/>
                    <a:pt x="514" y="14"/>
                    <a:pt x="512" y="12"/>
                  </a:cubicBezTo>
                  <a:cubicBezTo>
                    <a:pt x="511" y="11"/>
                    <a:pt x="511" y="9"/>
                    <a:pt x="511" y="8"/>
                  </a:cubicBezTo>
                  <a:cubicBezTo>
                    <a:pt x="511" y="7"/>
                    <a:pt x="511" y="7"/>
                    <a:pt x="509" y="6"/>
                  </a:cubicBezTo>
                  <a:cubicBezTo>
                    <a:pt x="509" y="6"/>
                    <a:pt x="508" y="5"/>
                    <a:pt x="507" y="7"/>
                  </a:cubicBezTo>
                  <a:cubicBezTo>
                    <a:pt x="505" y="9"/>
                    <a:pt x="504" y="11"/>
                    <a:pt x="505" y="14"/>
                  </a:cubicBezTo>
                  <a:cubicBezTo>
                    <a:pt x="506" y="16"/>
                    <a:pt x="507" y="19"/>
                    <a:pt x="508" y="21"/>
                  </a:cubicBezTo>
                  <a:cubicBezTo>
                    <a:pt x="508" y="22"/>
                    <a:pt x="509" y="24"/>
                    <a:pt x="507" y="26"/>
                  </a:cubicBezTo>
                  <a:cubicBezTo>
                    <a:pt x="507" y="26"/>
                    <a:pt x="506" y="27"/>
                    <a:pt x="504" y="27"/>
                  </a:cubicBezTo>
                  <a:cubicBezTo>
                    <a:pt x="504" y="30"/>
                    <a:pt x="503" y="32"/>
                    <a:pt x="499" y="32"/>
                  </a:cubicBezTo>
                  <a:cubicBezTo>
                    <a:pt x="498" y="32"/>
                    <a:pt x="497" y="32"/>
                    <a:pt x="496" y="32"/>
                  </a:cubicBezTo>
                  <a:cubicBezTo>
                    <a:pt x="495" y="32"/>
                    <a:pt x="494" y="33"/>
                    <a:pt x="492" y="33"/>
                  </a:cubicBezTo>
                  <a:cubicBezTo>
                    <a:pt x="456" y="32"/>
                    <a:pt x="420" y="32"/>
                    <a:pt x="384" y="32"/>
                  </a:cubicBezTo>
                  <a:cubicBezTo>
                    <a:pt x="329" y="33"/>
                    <a:pt x="275" y="33"/>
                    <a:pt x="220" y="32"/>
                  </a:cubicBezTo>
                  <a:cubicBezTo>
                    <a:pt x="220" y="32"/>
                    <a:pt x="219" y="33"/>
                    <a:pt x="218" y="33"/>
                  </a:cubicBezTo>
                  <a:cubicBezTo>
                    <a:pt x="217" y="33"/>
                    <a:pt x="215" y="33"/>
                    <a:pt x="214" y="33"/>
                  </a:cubicBezTo>
                  <a:cubicBezTo>
                    <a:pt x="210" y="33"/>
                    <a:pt x="208" y="31"/>
                    <a:pt x="207" y="28"/>
                  </a:cubicBezTo>
                  <a:cubicBezTo>
                    <a:pt x="205" y="27"/>
                    <a:pt x="205" y="27"/>
                    <a:pt x="204" y="26"/>
                  </a:cubicBezTo>
                  <a:cubicBezTo>
                    <a:pt x="203" y="24"/>
                    <a:pt x="204" y="22"/>
                    <a:pt x="204" y="21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5" y="18"/>
                    <a:pt x="205" y="17"/>
                    <a:pt x="206" y="15"/>
                  </a:cubicBezTo>
                  <a:cubicBezTo>
                    <a:pt x="206" y="15"/>
                    <a:pt x="206" y="14"/>
                    <a:pt x="206" y="14"/>
                  </a:cubicBezTo>
                  <a:cubicBezTo>
                    <a:pt x="207" y="12"/>
                    <a:pt x="206" y="8"/>
                    <a:pt x="204" y="7"/>
                  </a:cubicBezTo>
                  <a:cubicBezTo>
                    <a:pt x="203" y="6"/>
                    <a:pt x="202" y="6"/>
                    <a:pt x="202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0" y="11"/>
                    <a:pt x="198" y="14"/>
                    <a:pt x="194" y="15"/>
                  </a:cubicBezTo>
                  <a:cubicBezTo>
                    <a:pt x="194" y="15"/>
                    <a:pt x="194" y="16"/>
                    <a:pt x="194" y="16"/>
                  </a:cubicBezTo>
                  <a:cubicBezTo>
                    <a:pt x="193" y="16"/>
                    <a:pt x="193" y="16"/>
                    <a:pt x="193" y="16"/>
                  </a:cubicBezTo>
                  <a:cubicBezTo>
                    <a:pt x="192" y="17"/>
                    <a:pt x="190" y="19"/>
                    <a:pt x="187" y="18"/>
                  </a:cubicBezTo>
                  <a:cubicBezTo>
                    <a:pt x="186" y="18"/>
                    <a:pt x="186" y="17"/>
                    <a:pt x="185" y="17"/>
                  </a:cubicBezTo>
                  <a:cubicBezTo>
                    <a:pt x="185" y="17"/>
                    <a:pt x="184" y="17"/>
                    <a:pt x="184" y="17"/>
                  </a:cubicBezTo>
                  <a:cubicBezTo>
                    <a:pt x="183" y="18"/>
                    <a:pt x="183" y="18"/>
                    <a:pt x="183" y="20"/>
                  </a:cubicBezTo>
                  <a:cubicBezTo>
                    <a:pt x="183" y="21"/>
                    <a:pt x="183" y="22"/>
                    <a:pt x="182" y="23"/>
                  </a:cubicBezTo>
                  <a:cubicBezTo>
                    <a:pt x="181" y="25"/>
                    <a:pt x="181" y="26"/>
                    <a:pt x="182" y="28"/>
                  </a:cubicBezTo>
                  <a:cubicBezTo>
                    <a:pt x="182" y="29"/>
                    <a:pt x="182" y="30"/>
                    <a:pt x="182" y="30"/>
                  </a:cubicBezTo>
                  <a:cubicBezTo>
                    <a:pt x="183" y="35"/>
                    <a:pt x="182" y="38"/>
                    <a:pt x="181" y="42"/>
                  </a:cubicBezTo>
                  <a:cubicBezTo>
                    <a:pt x="180" y="43"/>
                    <a:pt x="180" y="45"/>
                    <a:pt x="180" y="47"/>
                  </a:cubicBezTo>
                  <a:cubicBezTo>
                    <a:pt x="179" y="48"/>
                    <a:pt x="178" y="49"/>
                    <a:pt x="178" y="50"/>
                  </a:cubicBezTo>
                  <a:cubicBezTo>
                    <a:pt x="177" y="51"/>
                    <a:pt x="177" y="51"/>
                    <a:pt x="177" y="51"/>
                  </a:cubicBezTo>
                  <a:cubicBezTo>
                    <a:pt x="174" y="54"/>
                    <a:pt x="171" y="58"/>
                    <a:pt x="167" y="62"/>
                  </a:cubicBezTo>
                  <a:cubicBezTo>
                    <a:pt x="163" y="65"/>
                    <a:pt x="158" y="67"/>
                    <a:pt x="152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1" y="65"/>
                    <a:pt x="151" y="65"/>
                    <a:pt x="151" y="65"/>
                  </a:cubicBezTo>
                  <a:cubicBezTo>
                    <a:pt x="151" y="67"/>
                    <a:pt x="151" y="67"/>
                    <a:pt x="151" y="67"/>
                  </a:cubicBezTo>
                  <a:cubicBezTo>
                    <a:pt x="150" y="67"/>
                    <a:pt x="147" y="67"/>
                    <a:pt x="146" y="65"/>
                  </a:cubicBezTo>
                  <a:cubicBezTo>
                    <a:pt x="144" y="66"/>
                    <a:pt x="143" y="66"/>
                    <a:pt x="142" y="65"/>
                  </a:cubicBezTo>
                  <a:cubicBezTo>
                    <a:pt x="141" y="67"/>
                    <a:pt x="140" y="68"/>
                    <a:pt x="137" y="68"/>
                  </a:cubicBezTo>
                  <a:cubicBezTo>
                    <a:pt x="127" y="67"/>
                    <a:pt x="127" y="67"/>
                    <a:pt x="127" y="67"/>
                  </a:cubicBezTo>
                  <a:cubicBezTo>
                    <a:pt x="121" y="67"/>
                    <a:pt x="115" y="67"/>
                    <a:pt x="108" y="66"/>
                  </a:cubicBezTo>
                  <a:cubicBezTo>
                    <a:pt x="108" y="66"/>
                    <a:pt x="106" y="66"/>
                    <a:pt x="105" y="65"/>
                  </a:cubicBezTo>
                  <a:cubicBezTo>
                    <a:pt x="104" y="64"/>
                    <a:pt x="104" y="62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4" y="61"/>
                    <a:pt x="104" y="61"/>
                    <a:pt x="104" y="61"/>
                  </a:cubicBezTo>
                  <a:cubicBezTo>
                    <a:pt x="103" y="62"/>
                    <a:pt x="101" y="62"/>
                    <a:pt x="100" y="62"/>
                  </a:cubicBezTo>
                  <a:cubicBezTo>
                    <a:pt x="98" y="62"/>
                    <a:pt x="97" y="61"/>
                    <a:pt x="96" y="60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96" y="61"/>
                    <a:pt x="96" y="62"/>
                    <a:pt x="97" y="63"/>
                  </a:cubicBezTo>
                  <a:cubicBezTo>
                    <a:pt x="97" y="64"/>
                    <a:pt x="97" y="65"/>
                    <a:pt x="97" y="66"/>
                  </a:cubicBezTo>
                  <a:cubicBezTo>
                    <a:pt x="98" y="68"/>
                    <a:pt x="97" y="70"/>
                    <a:pt x="96" y="71"/>
                  </a:cubicBezTo>
                  <a:cubicBezTo>
                    <a:pt x="95" y="71"/>
                    <a:pt x="94" y="71"/>
                    <a:pt x="93" y="71"/>
                  </a:cubicBezTo>
                  <a:cubicBezTo>
                    <a:pt x="90" y="71"/>
                    <a:pt x="84" y="70"/>
                    <a:pt x="82" y="68"/>
                  </a:cubicBezTo>
                  <a:cubicBezTo>
                    <a:pt x="82" y="68"/>
                    <a:pt x="81" y="67"/>
                    <a:pt x="81" y="67"/>
                  </a:cubicBezTo>
                  <a:cubicBezTo>
                    <a:pt x="81" y="67"/>
                    <a:pt x="81" y="68"/>
                    <a:pt x="80" y="68"/>
                  </a:cubicBezTo>
                  <a:cubicBezTo>
                    <a:pt x="79" y="70"/>
                    <a:pt x="77" y="70"/>
                    <a:pt x="74" y="69"/>
                  </a:cubicBezTo>
                  <a:cubicBezTo>
                    <a:pt x="72" y="69"/>
                    <a:pt x="71" y="67"/>
                    <a:pt x="70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8" y="68"/>
                    <a:pt x="66" y="68"/>
                    <a:pt x="64" y="68"/>
                  </a:cubicBezTo>
                  <a:cubicBezTo>
                    <a:pt x="60" y="68"/>
                    <a:pt x="58" y="65"/>
                    <a:pt x="57" y="63"/>
                  </a:cubicBezTo>
                  <a:cubicBezTo>
                    <a:pt x="57" y="63"/>
                    <a:pt x="57" y="63"/>
                    <a:pt x="57" y="63"/>
                  </a:cubicBezTo>
                  <a:cubicBezTo>
                    <a:pt x="57" y="63"/>
                    <a:pt x="57" y="64"/>
                    <a:pt x="56" y="64"/>
                  </a:cubicBezTo>
                  <a:cubicBezTo>
                    <a:pt x="56" y="65"/>
                    <a:pt x="55" y="66"/>
                    <a:pt x="53" y="66"/>
                  </a:cubicBezTo>
                  <a:cubicBezTo>
                    <a:pt x="52" y="66"/>
                    <a:pt x="52" y="66"/>
                    <a:pt x="52" y="66"/>
                  </a:cubicBezTo>
                  <a:cubicBezTo>
                    <a:pt x="49" y="66"/>
                    <a:pt x="47" y="65"/>
                    <a:pt x="46" y="62"/>
                  </a:cubicBezTo>
                  <a:cubicBezTo>
                    <a:pt x="46" y="61"/>
                    <a:pt x="46" y="61"/>
                    <a:pt x="45" y="61"/>
                  </a:cubicBezTo>
                  <a:cubicBezTo>
                    <a:pt x="44" y="63"/>
                    <a:pt x="42" y="64"/>
                    <a:pt x="37" y="62"/>
                  </a:cubicBezTo>
                  <a:cubicBezTo>
                    <a:pt x="35" y="61"/>
                    <a:pt x="35" y="60"/>
                    <a:pt x="34" y="59"/>
                  </a:cubicBezTo>
                  <a:cubicBezTo>
                    <a:pt x="34" y="58"/>
                    <a:pt x="34" y="58"/>
                    <a:pt x="33" y="57"/>
                  </a:cubicBezTo>
                  <a:cubicBezTo>
                    <a:pt x="33" y="58"/>
                    <a:pt x="33" y="58"/>
                    <a:pt x="32" y="59"/>
                  </a:cubicBezTo>
                  <a:cubicBezTo>
                    <a:pt x="32" y="59"/>
                    <a:pt x="31" y="60"/>
                    <a:pt x="30" y="60"/>
                  </a:cubicBezTo>
                  <a:cubicBezTo>
                    <a:pt x="28" y="60"/>
                    <a:pt x="27" y="60"/>
                    <a:pt x="25" y="59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3" y="58"/>
                    <a:pt x="22" y="58"/>
                    <a:pt x="22" y="58"/>
                  </a:cubicBezTo>
                  <a:cubicBezTo>
                    <a:pt x="21" y="58"/>
                    <a:pt x="19" y="57"/>
                    <a:pt x="19" y="55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18" y="53"/>
                  </a:cubicBezTo>
                  <a:cubicBezTo>
                    <a:pt x="18" y="56"/>
                    <a:pt x="15" y="57"/>
                    <a:pt x="14" y="58"/>
                  </a:cubicBezTo>
                  <a:cubicBezTo>
                    <a:pt x="13" y="58"/>
                    <a:pt x="12" y="59"/>
                    <a:pt x="12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2" y="62"/>
                    <a:pt x="12" y="64"/>
                    <a:pt x="11" y="65"/>
                  </a:cubicBezTo>
                  <a:cubicBezTo>
                    <a:pt x="11" y="66"/>
                    <a:pt x="9" y="67"/>
                    <a:pt x="6" y="67"/>
                  </a:cubicBezTo>
                  <a:cubicBezTo>
                    <a:pt x="7" y="69"/>
                    <a:pt x="8" y="69"/>
                    <a:pt x="9" y="70"/>
                  </a:cubicBezTo>
                  <a:cubicBezTo>
                    <a:pt x="12" y="71"/>
                    <a:pt x="16" y="73"/>
                    <a:pt x="19" y="75"/>
                  </a:cubicBezTo>
                  <a:cubicBezTo>
                    <a:pt x="23" y="77"/>
                    <a:pt x="27" y="79"/>
                    <a:pt x="32" y="81"/>
                  </a:cubicBezTo>
                  <a:cubicBezTo>
                    <a:pt x="35" y="82"/>
                    <a:pt x="35" y="84"/>
                    <a:pt x="35" y="85"/>
                  </a:cubicBezTo>
                  <a:cubicBezTo>
                    <a:pt x="35" y="85"/>
                    <a:pt x="35" y="86"/>
                    <a:pt x="35" y="86"/>
                  </a:cubicBezTo>
                  <a:cubicBezTo>
                    <a:pt x="35" y="86"/>
                    <a:pt x="36" y="86"/>
                    <a:pt x="37" y="86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41" y="86"/>
                    <a:pt x="42" y="89"/>
                    <a:pt x="42" y="90"/>
                  </a:cubicBezTo>
                  <a:cubicBezTo>
                    <a:pt x="42" y="90"/>
                    <a:pt x="42" y="90"/>
                    <a:pt x="42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3" y="90"/>
                    <a:pt x="44" y="90"/>
                    <a:pt x="44" y="90"/>
                  </a:cubicBezTo>
                  <a:cubicBezTo>
                    <a:pt x="45" y="91"/>
                    <a:pt x="47" y="91"/>
                    <a:pt x="47" y="93"/>
                  </a:cubicBezTo>
                  <a:cubicBezTo>
                    <a:pt x="48" y="95"/>
                    <a:pt x="49" y="95"/>
                    <a:pt x="51" y="96"/>
                  </a:cubicBezTo>
                  <a:cubicBezTo>
                    <a:pt x="53" y="97"/>
                    <a:pt x="55" y="97"/>
                    <a:pt x="56" y="99"/>
                  </a:cubicBezTo>
                  <a:cubicBezTo>
                    <a:pt x="59" y="100"/>
                    <a:pt x="60" y="102"/>
                    <a:pt x="60" y="103"/>
                  </a:cubicBezTo>
                  <a:cubicBezTo>
                    <a:pt x="60" y="103"/>
                    <a:pt x="61" y="103"/>
                    <a:pt x="61" y="103"/>
                  </a:cubicBezTo>
                  <a:cubicBezTo>
                    <a:pt x="64" y="103"/>
                    <a:pt x="65" y="104"/>
                    <a:pt x="65" y="106"/>
                  </a:cubicBezTo>
                  <a:cubicBezTo>
                    <a:pt x="65" y="106"/>
                    <a:pt x="65" y="106"/>
                    <a:pt x="67" y="106"/>
                  </a:cubicBezTo>
                  <a:cubicBezTo>
                    <a:pt x="68" y="107"/>
                    <a:pt x="70" y="108"/>
                    <a:pt x="71" y="110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dirty="0"/>
            </a:p>
          </p:txBody>
        </p:sp>
        <p:sp>
          <p:nvSpPr>
            <p:cNvPr id="15" name="Freeform 11"/>
            <p:cNvSpPr/>
            <p:nvPr/>
          </p:nvSpPr>
          <p:spPr bwMode="auto">
            <a:xfrm>
              <a:off x="3757" y="1938"/>
              <a:ext cx="130" cy="183"/>
            </a:xfrm>
            <a:custGeom>
              <a:avLst/>
              <a:gdLst>
                <a:gd name="T0" fmla="*/ 62 w 76"/>
                <a:gd name="T1" fmla="*/ 8 h 106"/>
                <a:gd name="T2" fmla="*/ 73 w 76"/>
                <a:gd name="T3" fmla="*/ 32 h 106"/>
                <a:gd name="T4" fmla="*/ 70 w 76"/>
                <a:gd name="T5" fmla="*/ 32 h 106"/>
                <a:gd name="T6" fmla="*/ 60 w 76"/>
                <a:gd name="T7" fmla="*/ 11 h 106"/>
                <a:gd name="T8" fmla="*/ 37 w 76"/>
                <a:gd name="T9" fmla="*/ 3 h 106"/>
                <a:gd name="T10" fmla="*/ 14 w 76"/>
                <a:gd name="T11" fmla="*/ 9 h 106"/>
                <a:gd name="T12" fmla="*/ 5 w 76"/>
                <a:gd name="T13" fmla="*/ 25 h 106"/>
                <a:gd name="T14" fmla="*/ 17 w 76"/>
                <a:gd name="T15" fmla="*/ 41 h 106"/>
                <a:gd name="T16" fmla="*/ 38 w 76"/>
                <a:gd name="T17" fmla="*/ 48 h 106"/>
                <a:gd name="T18" fmla="*/ 64 w 76"/>
                <a:gd name="T19" fmla="*/ 57 h 106"/>
                <a:gd name="T20" fmla="*/ 76 w 76"/>
                <a:gd name="T21" fmla="*/ 78 h 106"/>
                <a:gd name="T22" fmla="*/ 65 w 76"/>
                <a:gd name="T23" fmla="*/ 99 h 106"/>
                <a:gd name="T24" fmla="*/ 38 w 76"/>
                <a:gd name="T25" fmla="*/ 106 h 106"/>
                <a:gd name="T26" fmla="*/ 12 w 76"/>
                <a:gd name="T27" fmla="*/ 97 h 106"/>
                <a:gd name="T28" fmla="*/ 0 w 76"/>
                <a:gd name="T29" fmla="*/ 70 h 106"/>
                <a:gd name="T30" fmla="*/ 3 w 76"/>
                <a:gd name="T31" fmla="*/ 70 h 106"/>
                <a:gd name="T32" fmla="*/ 14 w 76"/>
                <a:gd name="T33" fmla="*/ 94 h 106"/>
                <a:gd name="T34" fmla="*/ 38 w 76"/>
                <a:gd name="T35" fmla="*/ 102 h 106"/>
                <a:gd name="T36" fmla="*/ 63 w 76"/>
                <a:gd name="T37" fmla="*/ 96 h 106"/>
                <a:gd name="T38" fmla="*/ 72 w 76"/>
                <a:gd name="T39" fmla="*/ 78 h 106"/>
                <a:gd name="T40" fmla="*/ 61 w 76"/>
                <a:gd name="T41" fmla="*/ 60 h 106"/>
                <a:gd name="T42" fmla="*/ 37 w 76"/>
                <a:gd name="T43" fmla="*/ 51 h 106"/>
                <a:gd name="T44" fmla="*/ 14 w 76"/>
                <a:gd name="T45" fmla="*/ 44 h 106"/>
                <a:gd name="T46" fmla="*/ 2 w 76"/>
                <a:gd name="T47" fmla="*/ 25 h 106"/>
                <a:gd name="T48" fmla="*/ 13 w 76"/>
                <a:gd name="T49" fmla="*/ 6 h 106"/>
                <a:gd name="T50" fmla="*/ 37 w 76"/>
                <a:gd name="T51" fmla="*/ 0 h 106"/>
                <a:gd name="T52" fmla="*/ 62 w 76"/>
                <a:gd name="T5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" h="106">
                  <a:moveTo>
                    <a:pt x="62" y="8"/>
                  </a:moveTo>
                  <a:cubicBezTo>
                    <a:pt x="69" y="14"/>
                    <a:pt x="72" y="22"/>
                    <a:pt x="73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23"/>
                    <a:pt x="66" y="16"/>
                    <a:pt x="60" y="11"/>
                  </a:cubicBezTo>
                  <a:cubicBezTo>
                    <a:pt x="55" y="6"/>
                    <a:pt x="47" y="3"/>
                    <a:pt x="37" y="3"/>
                  </a:cubicBezTo>
                  <a:cubicBezTo>
                    <a:pt x="27" y="3"/>
                    <a:pt x="20" y="5"/>
                    <a:pt x="14" y="9"/>
                  </a:cubicBezTo>
                  <a:cubicBezTo>
                    <a:pt x="8" y="12"/>
                    <a:pt x="5" y="18"/>
                    <a:pt x="5" y="25"/>
                  </a:cubicBezTo>
                  <a:cubicBezTo>
                    <a:pt x="5" y="32"/>
                    <a:pt x="9" y="37"/>
                    <a:pt x="17" y="41"/>
                  </a:cubicBezTo>
                  <a:cubicBezTo>
                    <a:pt x="20" y="43"/>
                    <a:pt x="27" y="45"/>
                    <a:pt x="38" y="48"/>
                  </a:cubicBezTo>
                  <a:cubicBezTo>
                    <a:pt x="50" y="51"/>
                    <a:pt x="59" y="54"/>
                    <a:pt x="64" y="57"/>
                  </a:cubicBezTo>
                  <a:cubicBezTo>
                    <a:pt x="72" y="62"/>
                    <a:pt x="76" y="69"/>
                    <a:pt x="76" y="78"/>
                  </a:cubicBezTo>
                  <a:cubicBezTo>
                    <a:pt x="76" y="87"/>
                    <a:pt x="72" y="94"/>
                    <a:pt x="65" y="99"/>
                  </a:cubicBezTo>
                  <a:cubicBezTo>
                    <a:pt x="58" y="103"/>
                    <a:pt x="49" y="106"/>
                    <a:pt x="38" y="106"/>
                  </a:cubicBezTo>
                  <a:cubicBezTo>
                    <a:pt x="27" y="106"/>
                    <a:pt x="18" y="103"/>
                    <a:pt x="12" y="97"/>
                  </a:cubicBezTo>
                  <a:cubicBezTo>
                    <a:pt x="5" y="91"/>
                    <a:pt x="1" y="82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4" y="81"/>
                    <a:pt x="8" y="89"/>
                    <a:pt x="14" y="94"/>
                  </a:cubicBezTo>
                  <a:cubicBezTo>
                    <a:pt x="20" y="100"/>
                    <a:pt x="28" y="102"/>
                    <a:pt x="38" y="102"/>
                  </a:cubicBezTo>
                  <a:cubicBezTo>
                    <a:pt x="48" y="102"/>
                    <a:pt x="56" y="100"/>
                    <a:pt x="63" y="96"/>
                  </a:cubicBezTo>
                  <a:cubicBezTo>
                    <a:pt x="69" y="91"/>
                    <a:pt x="72" y="86"/>
                    <a:pt x="72" y="78"/>
                  </a:cubicBezTo>
                  <a:cubicBezTo>
                    <a:pt x="72" y="70"/>
                    <a:pt x="69" y="64"/>
                    <a:pt x="61" y="60"/>
                  </a:cubicBezTo>
                  <a:cubicBezTo>
                    <a:pt x="57" y="57"/>
                    <a:pt x="49" y="54"/>
                    <a:pt x="37" y="51"/>
                  </a:cubicBezTo>
                  <a:cubicBezTo>
                    <a:pt x="25" y="48"/>
                    <a:pt x="18" y="46"/>
                    <a:pt x="14" y="44"/>
                  </a:cubicBezTo>
                  <a:cubicBezTo>
                    <a:pt x="6" y="39"/>
                    <a:pt x="2" y="33"/>
                    <a:pt x="2" y="25"/>
                  </a:cubicBezTo>
                  <a:cubicBezTo>
                    <a:pt x="2" y="17"/>
                    <a:pt x="6" y="10"/>
                    <a:pt x="13" y="6"/>
                  </a:cubicBezTo>
                  <a:cubicBezTo>
                    <a:pt x="19" y="2"/>
                    <a:pt x="27" y="0"/>
                    <a:pt x="37" y="0"/>
                  </a:cubicBezTo>
                  <a:cubicBezTo>
                    <a:pt x="48" y="0"/>
                    <a:pt x="56" y="3"/>
                    <a:pt x="62" y="8"/>
                  </a:cubicBez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6" name="Freeform 12"/>
            <p:cNvSpPr/>
            <p:nvPr/>
          </p:nvSpPr>
          <p:spPr bwMode="auto">
            <a:xfrm>
              <a:off x="3899" y="1942"/>
              <a:ext cx="96" cy="179"/>
            </a:xfrm>
            <a:custGeom>
              <a:avLst/>
              <a:gdLst>
                <a:gd name="T0" fmla="*/ 53 w 56"/>
                <a:gd name="T1" fmla="*/ 0 h 104"/>
                <a:gd name="T2" fmla="*/ 56 w 56"/>
                <a:gd name="T3" fmla="*/ 0 h 104"/>
                <a:gd name="T4" fmla="*/ 56 w 56"/>
                <a:gd name="T5" fmla="*/ 70 h 104"/>
                <a:gd name="T6" fmla="*/ 50 w 56"/>
                <a:gd name="T7" fmla="*/ 94 h 104"/>
                <a:gd name="T8" fmla="*/ 27 w 56"/>
                <a:gd name="T9" fmla="*/ 104 h 104"/>
                <a:gd name="T10" fmla="*/ 8 w 56"/>
                <a:gd name="T11" fmla="*/ 97 h 104"/>
                <a:gd name="T12" fmla="*/ 0 w 56"/>
                <a:gd name="T13" fmla="*/ 75 h 104"/>
                <a:gd name="T14" fmla="*/ 0 w 56"/>
                <a:gd name="T15" fmla="*/ 70 h 104"/>
                <a:gd name="T16" fmla="*/ 3 w 56"/>
                <a:gd name="T17" fmla="*/ 70 h 104"/>
                <a:gd name="T18" fmla="*/ 3 w 56"/>
                <a:gd name="T19" fmla="*/ 75 h 104"/>
                <a:gd name="T20" fmla="*/ 27 w 56"/>
                <a:gd name="T21" fmla="*/ 100 h 104"/>
                <a:gd name="T22" fmla="*/ 47 w 56"/>
                <a:gd name="T23" fmla="*/ 92 h 104"/>
                <a:gd name="T24" fmla="*/ 53 w 56"/>
                <a:gd name="T25" fmla="*/ 70 h 104"/>
                <a:gd name="T26" fmla="*/ 53 w 56"/>
                <a:gd name="T2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6" h="104">
                  <a:moveTo>
                    <a:pt x="53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6" y="80"/>
                    <a:pt x="54" y="88"/>
                    <a:pt x="50" y="94"/>
                  </a:cubicBezTo>
                  <a:cubicBezTo>
                    <a:pt x="45" y="100"/>
                    <a:pt x="37" y="104"/>
                    <a:pt x="27" y="104"/>
                  </a:cubicBezTo>
                  <a:cubicBezTo>
                    <a:pt x="19" y="104"/>
                    <a:pt x="12" y="101"/>
                    <a:pt x="8" y="97"/>
                  </a:cubicBezTo>
                  <a:cubicBezTo>
                    <a:pt x="2" y="92"/>
                    <a:pt x="0" y="84"/>
                    <a:pt x="0" y="75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92"/>
                    <a:pt x="11" y="100"/>
                    <a:pt x="27" y="100"/>
                  </a:cubicBezTo>
                  <a:cubicBezTo>
                    <a:pt x="36" y="100"/>
                    <a:pt x="43" y="97"/>
                    <a:pt x="47" y="92"/>
                  </a:cubicBezTo>
                  <a:cubicBezTo>
                    <a:pt x="51" y="87"/>
                    <a:pt x="53" y="80"/>
                    <a:pt x="53" y="70"/>
                  </a:cubicBezTo>
                  <a:lnTo>
                    <a:pt x="53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4019" y="1942"/>
              <a:ext cx="142" cy="175"/>
            </a:xfrm>
            <a:custGeom>
              <a:avLst/>
              <a:gdLst>
                <a:gd name="T0" fmla="*/ 0 w 142"/>
                <a:gd name="T1" fmla="*/ 0 h 175"/>
                <a:gd name="T2" fmla="*/ 142 w 142"/>
                <a:gd name="T3" fmla="*/ 0 h 175"/>
                <a:gd name="T4" fmla="*/ 142 w 142"/>
                <a:gd name="T5" fmla="*/ 5 h 175"/>
                <a:gd name="T6" fmla="*/ 73 w 142"/>
                <a:gd name="T7" fmla="*/ 5 h 175"/>
                <a:gd name="T8" fmla="*/ 73 w 142"/>
                <a:gd name="T9" fmla="*/ 175 h 175"/>
                <a:gd name="T10" fmla="*/ 68 w 142"/>
                <a:gd name="T11" fmla="*/ 175 h 175"/>
                <a:gd name="T12" fmla="*/ 68 w 142"/>
                <a:gd name="T13" fmla="*/ 5 h 175"/>
                <a:gd name="T14" fmla="*/ 0 w 142"/>
                <a:gd name="T15" fmla="*/ 5 h 175"/>
                <a:gd name="T16" fmla="*/ 0 w 142"/>
                <a:gd name="T17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75">
                  <a:moveTo>
                    <a:pt x="0" y="0"/>
                  </a:moveTo>
                  <a:lnTo>
                    <a:pt x="142" y="0"/>
                  </a:lnTo>
                  <a:lnTo>
                    <a:pt x="142" y="5"/>
                  </a:lnTo>
                  <a:lnTo>
                    <a:pt x="73" y="5"/>
                  </a:lnTo>
                  <a:lnTo>
                    <a:pt x="73" y="175"/>
                  </a:lnTo>
                  <a:lnTo>
                    <a:pt x="68" y="175"/>
                  </a:lnTo>
                  <a:lnTo>
                    <a:pt x="68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  <p:sp>
          <p:nvSpPr>
            <p:cNvPr id="18" name="Freeform 14"/>
            <p:cNvSpPr/>
            <p:nvPr/>
          </p:nvSpPr>
          <p:spPr bwMode="auto">
            <a:xfrm>
              <a:off x="4183" y="1942"/>
              <a:ext cx="130" cy="179"/>
            </a:xfrm>
            <a:custGeom>
              <a:avLst/>
              <a:gdLst>
                <a:gd name="T0" fmla="*/ 0 w 76"/>
                <a:gd name="T1" fmla="*/ 0 h 104"/>
                <a:gd name="T2" fmla="*/ 4 w 76"/>
                <a:gd name="T3" fmla="*/ 0 h 104"/>
                <a:gd name="T4" fmla="*/ 4 w 76"/>
                <a:gd name="T5" fmla="*/ 62 h 104"/>
                <a:gd name="T6" fmla="*/ 12 w 76"/>
                <a:gd name="T7" fmla="*/ 90 h 104"/>
                <a:gd name="T8" fmla="*/ 38 w 76"/>
                <a:gd name="T9" fmla="*/ 100 h 104"/>
                <a:gd name="T10" fmla="*/ 65 w 76"/>
                <a:gd name="T11" fmla="*/ 90 h 104"/>
                <a:gd name="T12" fmla="*/ 73 w 76"/>
                <a:gd name="T13" fmla="*/ 62 h 104"/>
                <a:gd name="T14" fmla="*/ 73 w 76"/>
                <a:gd name="T15" fmla="*/ 0 h 104"/>
                <a:gd name="T16" fmla="*/ 76 w 76"/>
                <a:gd name="T17" fmla="*/ 0 h 104"/>
                <a:gd name="T18" fmla="*/ 76 w 76"/>
                <a:gd name="T19" fmla="*/ 62 h 104"/>
                <a:gd name="T20" fmla="*/ 68 w 76"/>
                <a:gd name="T21" fmla="*/ 92 h 104"/>
                <a:gd name="T22" fmla="*/ 38 w 76"/>
                <a:gd name="T23" fmla="*/ 104 h 104"/>
                <a:gd name="T24" fmla="*/ 9 w 76"/>
                <a:gd name="T25" fmla="*/ 92 h 104"/>
                <a:gd name="T26" fmla="*/ 0 w 76"/>
                <a:gd name="T27" fmla="*/ 62 h 104"/>
                <a:gd name="T28" fmla="*/ 0 w 76"/>
                <a:gd name="T2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6" h="104">
                  <a:moveTo>
                    <a:pt x="0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74"/>
                    <a:pt x="6" y="83"/>
                    <a:pt x="12" y="90"/>
                  </a:cubicBezTo>
                  <a:cubicBezTo>
                    <a:pt x="17" y="97"/>
                    <a:pt x="26" y="100"/>
                    <a:pt x="38" y="100"/>
                  </a:cubicBezTo>
                  <a:cubicBezTo>
                    <a:pt x="50" y="100"/>
                    <a:pt x="59" y="97"/>
                    <a:pt x="65" y="90"/>
                  </a:cubicBezTo>
                  <a:cubicBezTo>
                    <a:pt x="70" y="83"/>
                    <a:pt x="73" y="74"/>
                    <a:pt x="73" y="6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62"/>
                    <a:pt x="76" y="62"/>
                    <a:pt x="76" y="62"/>
                  </a:cubicBezTo>
                  <a:cubicBezTo>
                    <a:pt x="76" y="75"/>
                    <a:pt x="73" y="85"/>
                    <a:pt x="68" y="92"/>
                  </a:cubicBezTo>
                  <a:cubicBezTo>
                    <a:pt x="61" y="100"/>
                    <a:pt x="52" y="104"/>
                    <a:pt x="38" y="104"/>
                  </a:cubicBezTo>
                  <a:cubicBezTo>
                    <a:pt x="25" y="104"/>
                    <a:pt x="15" y="100"/>
                    <a:pt x="9" y="92"/>
                  </a:cubicBezTo>
                  <a:cubicBezTo>
                    <a:pt x="3" y="85"/>
                    <a:pt x="0" y="75"/>
                    <a:pt x="0" y="6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/>
            </a:p>
          </p:txBody>
        </p:sp>
      </p:grpSp>
      <p:cxnSp>
        <p:nvCxnSpPr>
          <p:cNvPr id="19" name="直接连接符 18"/>
          <p:cNvCxnSpPr>
            <a:stCxn id="11" idx="36"/>
          </p:cNvCxnSpPr>
          <p:nvPr userDrawn="1"/>
        </p:nvCxnSpPr>
        <p:spPr>
          <a:xfrm flipH="1" flipV="1">
            <a:off x="3" y="751684"/>
            <a:ext cx="10144994" cy="9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75147" y="6578600"/>
            <a:ext cx="2743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accent1"/>
                </a:solidFill>
              </a:defRPr>
            </a:lvl1pPr>
          </a:lstStyle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 descr="文本&#10;&#10;描述已自动生成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5" t="41855" r="66308" b="43702"/>
          <a:stretch>
            <a:fillRect/>
          </a:stretch>
        </p:blipFill>
        <p:spPr>
          <a:xfrm>
            <a:off x="118081" y="-53974"/>
            <a:ext cx="924558" cy="7583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6.xml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 txBox="1"/>
          <p:nvPr/>
        </p:nvSpPr>
        <p:spPr>
          <a:xfrm>
            <a:off x="1129665" y="101600"/>
            <a:ext cx="5050155" cy="5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宁德：料箱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上层感知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4267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94005" y="838200"/>
            <a:ext cx="648398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目前</a:t>
            </a:r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方案：</a:t>
            </a:r>
            <a:endParaRPr lang="zh-CN" altLang="en-US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充分利用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SAM</a:t>
            </a:r>
            <a:r>
              <a:rPr lang="zh-CN" altLang="en-US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边缘提取能力和料箱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3D</a:t>
            </a:r>
            <a:r>
              <a:rPr lang="zh-CN" altLang="en-US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先验</a:t>
            </a:r>
            <a:endParaRPr lang="zh-CN" altLang="en-US" sz="20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77" name="组合 176"/>
          <p:cNvGrpSpPr/>
          <p:nvPr/>
        </p:nvGrpSpPr>
        <p:grpSpPr>
          <a:xfrm>
            <a:off x="-217170" y="1654810"/>
            <a:ext cx="6999605" cy="5112552"/>
            <a:chOff x="137" y="2357"/>
            <a:chExt cx="10075" cy="7378"/>
          </a:xfrm>
        </p:grpSpPr>
        <p:sp>
          <p:nvSpPr>
            <p:cNvPr id="139" name="文本框 138"/>
            <p:cNvSpPr txBox="1"/>
            <p:nvPr/>
          </p:nvSpPr>
          <p:spPr>
            <a:xfrm>
              <a:off x="4808" y="4172"/>
              <a:ext cx="2282" cy="75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高度阈值法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提取上层边框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40" name="右箭头 139"/>
            <p:cNvSpPr/>
            <p:nvPr/>
          </p:nvSpPr>
          <p:spPr>
            <a:xfrm>
              <a:off x="4173" y="3226"/>
              <a:ext cx="532" cy="32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1" name="右箭头 140"/>
            <p:cNvSpPr/>
            <p:nvPr/>
          </p:nvSpPr>
          <p:spPr>
            <a:xfrm>
              <a:off x="6821" y="3227"/>
              <a:ext cx="552" cy="32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2" name="右箭头 141"/>
            <p:cNvSpPr/>
            <p:nvPr/>
          </p:nvSpPr>
          <p:spPr>
            <a:xfrm flipH="1">
              <a:off x="6003" y="5730"/>
              <a:ext cx="474" cy="32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3" name="文本框 142"/>
            <p:cNvSpPr txBox="1"/>
            <p:nvPr/>
          </p:nvSpPr>
          <p:spPr>
            <a:xfrm>
              <a:off x="3411" y="4897"/>
              <a:ext cx="2848" cy="44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不受箱内部物体干扰</a:t>
              </a:r>
              <a:endParaRPr kumimoji="0" lang="zh-CN" altLang="en-US" sz="14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44" name="右箭头 143"/>
            <p:cNvSpPr/>
            <p:nvPr/>
          </p:nvSpPr>
          <p:spPr>
            <a:xfrm rot="5400000">
              <a:off x="7317" y="4529"/>
              <a:ext cx="752" cy="344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3711" y="7038"/>
              <a:ext cx="2163" cy="75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SAM3</a:t>
              </a: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提取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箱子实例掩膜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46" name="文本框 145"/>
            <p:cNvSpPr txBox="1"/>
            <p:nvPr/>
          </p:nvSpPr>
          <p:spPr>
            <a:xfrm>
              <a:off x="6539" y="7061"/>
              <a:ext cx="2564" cy="75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最大矩形拟合法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生成下边框提示点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47" name="右箭头 146"/>
            <p:cNvSpPr/>
            <p:nvPr/>
          </p:nvSpPr>
          <p:spPr>
            <a:xfrm flipH="1">
              <a:off x="3117" y="5730"/>
              <a:ext cx="462" cy="32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8" name="文本框 147"/>
            <p:cNvSpPr txBox="1"/>
            <p:nvPr/>
          </p:nvSpPr>
          <p:spPr>
            <a:xfrm>
              <a:off x="6540" y="5580"/>
              <a:ext cx="2315" cy="84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3D</a:t>
              </a:r>
              <a:r>
                <a:rPr kumimoji="0" lang="zh-CN" altLang="en-US" sz="16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先验点提示更稳定</a:t>
              </a:r>
              <a:endParaRPr kumimoji="0" lang="zh-CN" altLang="en-US" sz="1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9262" y="2357"/>
              <a:ext cx="933" cy="2789"/>
            </a:xfrm>
            <a:prstGeom prst="rect">
              <a:avLst/>
            </a:prstGeom>
            <a:solidFill>
              <a:schemeClr val="accent1"/>
            </a:solidFill>
          </p:spPr>
          <p:txBody>
            <a:bodyPr vert="eaVert" wrap="square" rtlCol="0" anchor="ctr" anchorCtr="0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3D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信息引导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点提示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9262" y="5368"/>
              <a:ext cx="933" cy="2789"/>
            </a:xfrm>
            <a:prstGeom prst="rect">
              <a:avLst/>
            </a:prstGeom>
            <a:solidFill>
              <a:schemeClr val="accent1"/>
            </a:solidFill>
          </p:spPr>
          <p:txBody>
            <a:bodyPr vert="eaVert" wrap="square" rtlCol="0" anchor="ctr" anchorCtr="0">
              <a:no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2D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掩膜引导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rPr>
                <a:t>料箱尺寸识别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51" name="组合 150"/>
            <p:cNvGrpSpPr/>
            <p:nvPr/>
          </p:nvGrpSpPr>
          <p:grpSpPr>
            <a:xfrm rot="0">
              <a:off x="940" y="8648"/>
              <a:ext cx="1825" cy="1025"/>
              <a:chOff x="1252" y="7460"/>
              <a:chExt cx="2702" cy="1307"/>
            </a:xfrm>
          </p:grpSpPr>
          <p:sp>
            <p:nvSpPr>
              <p:cNvPr id="152" name="立方体 151"/>
              <p:cNvSpPr/>
              <p:nvPr/>
            </p:nvSpPr>
            <p:spPr>
              <a:xfrm>
                <a:off x="1360" y="7477"/>
                <a:ext cx="973" cy="726"/>
              </a:xfrm>
              <a:prstGeom prst="cub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3" name="立方体 152"/>
              <p:cNvSpPr/>
              <p:nvPr/>
            </p:nvSpPr>
            <p:spPr>
              <a:xfrm>
                <a:off x="2686" y="7460"/>
                <a:ext cx="1268" cy="743"/>
              </a:xfrm>
              <a:prstGeom prst="cube">
                <a:avLst>
                  <a:gd name="adj" fmla="val 43472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54" name="文本框 153"/>
              <p:cNvSpPr txBox="1"/>
              <p:nvPr/>
            </p:nvSpPr>
            <p:spPr>
              <a:xfrm>
                <a:off x="1252" y="8203"/>
                <a:ext cx="2702" cy="56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  <a:sym typeface="+mn-ea"/>
                  </a:rPr>
                  <a:t>模板列表</a:t>
                </a:r>
                <a:endPara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endParaRPr>
              </a:p>
            </p:txBody>
          </p:sp>
        </p:grpSp>
        <p:cxnSp>
          <p:nvCxnSpPr>
            <p:cNvPr id="155" name="肘形连接符 154"/>
            <p:cNvCxnSpPr/>
            <p:nvPr/>
          </p:nvCxnSpPr>
          <p:spPr>
            <a:xfrm rot="16200000">
              <a:off x="2634" y="7999"/>
              <a:ext cx="377" cy="923"/>
            </a:xfrm>
            <a:prstGeom prst="bentConnector2">
              <a:avLst/>
            </a:prstGeom>
            <a:ln w="50800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6" name="文本框 155"/>
            <p:cNvSpPr txBox="1"/>
            <p:nvPr/>
          </p:nvSpPr>
          <p:spPr>
            <a:xfrm>
              <a:off x="3084" y="8982"/>
              <a:ext cx="2919" cy="75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匹配结果与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近邻状态判断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57" name="文本框 156"/>
            <p:cNvSpPr txBox="1"/>
            <p:nvPr/>
          </p:nvSpPr>
          <p:spPr>
            <a:xfrm>
              <a:off x="801" y="7114"/>
              <a:ext cx="2609" cy="75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模板边缘点计数匹配法估计尺寸</a:t>
              </a: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姿态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grpSp>
          <p:nvGrpSpPr>
            <p:cNvPr id="158" name="组合 157"/>
            <p:cNvGrpSpPr/>
            <p:nvPr/>
          </p:nvGrpSpPr>
          <p:grpSpPr>
            <a:xfrm rot="0">
              <a:off x="137" y="5891"/>
              <a:ext cx="3160" cy="2379"/>
              <a:chOff x="3513" y="4667"/>
              <a:chExt cx="4707" cy="4652"/>
            </a:xfrm>
          </p:grpSpPr>
          <p:cxnSp>
            <p:nvCxnSpPr>
              <p:cNvPr id="159" name="肘形连接符 158"/>
              <p:cNvCxnSpPr/>
              <p:nvPr/>
            </p:nvCxnSpPr>
            <p:spPr>
              <a:xfrm rot="10800000" flipH="1" flipV="1">
                <a:off x="5270" y="4667"/>
                <a:ext cx="2950" cy="4652"/>
              </a:xfrm>
              <a:prstGeom prst="bentConnector3">
                <a:avLst>
                  <a:gd name="adj1" fmla="val -25933"/>
                </a:avLst>
              </a:prstGeom>
              <a:ln w="5080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60" name="图片 15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513" y="7442"/>
                <a:ext cx="818" cy="458"/>
              </a:xfrm>
              <a:prstGeom prst="rect">
                <a:avLst/>
              </a:prstGeom>
            </p:spPr>
          </p:pic>
        </p:grpSp>
        <p:sp>
          <p:nvSpPr>
            <p:cNvPr id="161" name="右箭头 160"/>
            <p:cNvSpPr/>
            <p:nvPr/>
          </p:nvSpPr>
          <p:spPr>
            <a:xfrm>
              <a:off x="5950" y="8398"/>
              <a:ext cx="701" cy="32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2" name="文本框 161"/>
            <p:cNvSpPr txBox="1"/>
            <p:nvPr/>
          </p:nvSpPr>
          <p:spPr>
            <a:xfrm>
              <a:off x="8728" y="8271"/>
              <a:ext cx="1484" cy="75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搬运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顺序规划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grpSp>
          <p:nvGrpSpPr>
            <p:cNvPr id="163" name="组合 162"/>
            <p:cNvGrpSpPr/>
            <p:nvPr/>
          </p:nvGrpSpPr>
          <p:grpSpPr>
            <a:xfrm rot="0">
              <a:off x="4196" y="7897"/>
              <a:ext cx="738" cy="1037"/>
              <a:chOff x="5000" y="8235"/>
              <a:chExt cx="738" cy="1133"/>
            </a:xfrm>
          </p:grpSpPr>
          <p:sp>
            <p:nvSpPr>
              <p:cNvPr id="164" name="矩形 163"/>
              <p:cNvSpPr/>
              <p:nvPr/>
            </p:nvSpPr>
            <p:spPr>
              <a:xfrm rot="1140000">
                <a:off x="5000" y="8466"/>
                <a:ext cx="738" cy="903"/>
              </a:xfrm>
              <a:prstGeom prst="rect">
                <a:avLst/>
              </a:prstGeom>
              <a:noFill/>
              <a:ln w="25400">
                <a:solidFill>
                  <a:srgbClr val="0064F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65" name="椭圆 164"/>
              <p:cNvSpPr/>
              <p:nvPr/>
            </p:nvSpPr>
            <p:spPr>
              <a:xfrm>
                <a:off x="5297" y="8857"/>
                <a:ext cx="119" cy="120"/>
              </a:xfrm>
              <a:prstGeom prst="ellipse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166" name="直接箭头连接符 165"/>
              <p:cNvCxnSpPr/>
              <p:nvPr/>
            </p:nvCxnSpPr>
            <p:spPr>
              <a:xfrm flipV="1">
                <a:off x="5349" y="8235"/>
                <a:ext cx="254" cy="683"/>
              </a:xfrm>
              <a:prstGeom prst="straightConnector1">
                <a:avLst/>
              </a:prstGeom>
              <a:ln w="19050"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67" name="文本框 166"/>
            <p:cNvSpPr txBox="1"/>
            <p:nvPr/>
          </p:nvSpPr>
          <p:spPr>
            <a:xfrm>
              <a:off x="4970" y="8071"/>
              <a:ext cx="1099" cy="75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00" cap="none" spc="0" normalizeH="0" baseline="0" noProof="0" dirty="0">
                  <a:ln>
                    <a:noFill/>
                  </a:ln>
                  <a:solidFill>
                    <a:srgbClr val="0028AA"/>
                  </a:solidFill>
                  <a:effectLst/>
                  <a:uLnTx/>
                  <a:uFillTx/>
                  <a:latin typeface="华文宋体" panose="02010600040101010101" charset="-122"/>
                  <a:ea typeface="华文宋体" panose="02010600040101010101" charset="-122"/>
                  <a:cs typeface="华文宋体" panose="02010600040101010101" charset="-122"/>
                  <a:sym typeface="+mn-ea"/>
                </a:rPr>
                <a:t>型号</a:t>
              </a:r>
              <a:endPara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srgbClr val="0028AA"/>
                </a:solidFill>
                <a:effectLst/>
                <a:uLnTx/>
                <a:uFillTx/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00" cap="none" spc="0" normalizeH="0" baseline="0" noProof="0" dirty="0">
                  <a:ln>
                    <a:noFill/>
                  </a:ln>
                  <a:solidFill>
                    <a:srgbClr val="0028AA"/>
                  </a:solidFill>
                  <a:effectLst/>
                  <a:uLnTx/>
                  <a:uFillTx/>
                  <a:latin typeface="华文宋体" panose="02010600040101010101" charset="-122"/>
                  <a:ea typeface="华文宋体" panose="02010600040101010101" charset="-122"/>
                  <a:cs typeface="华文宋体" panose="02010600040101010101" charset="-122"/>
                  <a:sym typeface="+mn-ea"/>
                </a:rPr>
                <a:t>4322</a:t>
              </a:r>
              <a:endParaRPr kumimoji="0" lang="en-US" altLang="zh-CN" sz="1400" b="1" i="0" u="none" strike="noStrike" kern="100" cap="none" spc="0" normalizeH="0" baseline="0" noProof="0" dirty="0">
                <a:ln>
                  <a:noFill/>
                </a:ln>
                <a:solidFill>
                  <a:srgbClr val="0028AA"/>
                </a:solidFill>
                <a:effectLst/>
                <a:uLnTx/>
                <a:uFillTx/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1899" y="4172"/>
              <a:ext cx="2806" cy="75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BEV</a:t>
              </a: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平面最大轮廓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滤除去除周边噪声</a:t>
              </a:r>
              <a:endPara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69" name="矩形 168"/>
            <p:cNvSpPr/>
            <p:nvPr/>
          </p:nvSpPr>
          <p:spPr>
            <a:xfrm rot="1140000">
              <a:off x="3563" y="7854"/>
              <a:ext cx="608" cy="830"/>
            </a:xfrm>
            <a:prstGeom prst="rect">
              <a:avLst/>
            </a:prstGeom>
            <a:noFill/>
            <a:ln w="25400">
              <a:solidFill>
                <a:srgbClr val="0064FF">
                  <a:alpha val="38000"/>
                </a:srgb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170" name="图片 169"/>
            <p:cNvPicPr>
              <a:picLocks noChangeAspect="1"/>
            </p:cNvPicPr>
            <p:nvPr/>
          </p:nvPicPr>
          <p:blipFill>
            <a:blip r:embed="rId2"/>
            <a:srcRect l="22124" r="18281"/>
            <a:stretch>
              <a:fillRect/>
            </a:stretch>
          </p:blipFill>
          <p:spPr>
            <a:xfrm>
              <a:off x="2212" y="2519"/>
              <a:ext cx="1870" cy="1738"/>
            </a:xfrm>
            <a:prstGeom prst="rect">
              <a:avLst/>
            </a:prstGeom>
          </p:spPr>
        </p:pic>
        <p:pic>
          <p:nvPicPr>
            <p:cNvPr id="171" name="图片 17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0" y="2434"/>
              <a:ext cx="1956" cy="1738"/>
            </a:xfrm>
            <a:prstGeom prst="rect">
              <a:avLst/>
            </a:prstGeom>
          </p:spPr>
        </p:pic>
        <p:pic>
          <p:nvPicPr>
            <p:cNvPr id="172" name="图片 171" descr="global_quad_xy"/>
            <p:cNvPicPr>
              <a:picLocks noChangeAspect="1"/>
            </p:cNvPicPr>
            <p:nvPr/>
          </p:nvPicPr>
          <p:blipFill>
            <a:blip r:embed="rId4"/>
            <a:srcRect t="8722" b="11037"/>
            <a:stretch>
              <a:fillRect/>
            </a:stretch>
          </p:blipFill>
          <p:spPr>
            <a:xfrm>
              <a:off x="7461" y="2434"/>
              <a:ext cx="1536" cy="1738"/>
            </a:xfrm>
            <a:prstGeom prst="rect">
              <a:avLst/>
            </a:prstGeom>
          </p:spPr>
        </p:pic>
        <p:pic>
          <p:nvPicPr>
            <p:cNvPr id="173" name="图片 172" descr="prompt_points_on_rgb"/>
            <p:cNvPicPr>
              <a:picLocks noChangeAspect="1"/>
            </p:cNvPicPr>
            <p:nvPr/>
          </p:nvPicPr>
          <p:blipFill>
            <a:blip r:embed="rId5"/>
            <a:srcRect l="24933" r="6203"/>
            <a:stretch>
              <a:fillRect/>
            </a:stretch>
          </p:blipFill>
          <p:spPr>
            <a:xfrm>
              <a:off x="6707" y="5256"/>
              <a:ext cx="2148" cy="1755"/>
            </a:xfrm>
            <a:prstGeom prst="rect">
              <a:avLst/>
            </a:prstGeom>
          </p:spPr>
        </p:pic>
        <p:pic>
          <p:nvPicPr>
            <p:cNvPr id="174" name="图片 173" descr="prompt_masks_debug_overlay"/>
            <p:cNvPicPr>
              <a:picLocks noChangeAspect="1"/>
            </p:cNvPicPr>
            <p:nvPr/>
          </p:nvPicPr>
          <p:blipFill>
            <a:blip r:embed="rId6"/>
            <a:srcRect l="23119" r="6591"/>
            <a:stretch>
              <a:fillRect/>
            </a:stretch>
          </p:blipFill>
          <p:spPr>
            <a:xfrm>
              <a:off x="3755" y="5310"/>
              <a:ext cx="2128" cy="1703"/>
            </a:xfrm>
            <a:prstGeom prst="rect">
              <a:avLst/>
            </a:prstGeom>
          </p:spPr>
        </p:pic>
        <p:pic>
          <p:nvPicPr>
            <p:cNvPr id="175" name="图片 17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49" y="5191"/>
              <a:ext cx="1783" cy="1528"/>
            </a:xfrm>
            <a:prstGeom prst="rect">
              <a:avLst/>
            </a:prstGeom>
          </p:spPr>
        </p:pic>
        <p:pic>
          <p:nvPicPr>
            <p:cNvPr id="176" name="图片 175"/>
            <p:cNvPicPr>
              <a:picLocks noChangeAspect="1"/>
            </p:cNvPicPr>
            <p:nvPr/>
          </p:nvPicPr>
          <p:blipFill>
            <a:blip r:embed="rId8"/>
            <a:srcRect l="9959" t="937"/>
            <a:stretch>
              <a:fillRect/>
            </a:stretch>
          </p:blipFill>
          <p:spPr>
            <a:xfrm>
              <a:off x="6696" y="7984"/>
              <a:ext cx="2113" cy="1361"/>
            </a:xfrm>
            <a:prstGeom prst="rect">
              <a:avLst/>
            </a:prstGeom>
          </p:spPr>
        </p:pic>
      </p:grpSp>
      <p:pic>
        <p:nvPicPr>
          <p:cNvPr id="181" name="图片 180"/>
          <p:cNvPicPr>
            <a:picLocks noChangeAspect="1"/>
          </p:cNvPicPr>
          <p:nvPr/>
        </p:nvPicPr>
        <p:blipFill>
          <a:blip r:embed="rId9"/>
          <a:srcRect l="4361" t="25137" b="9781"/>
          <a:stretch>
            <a:fillRect/>
          </a:stretch>
        </p:blipFill>
        <p:spPr>
          <a:xfrm>
            <a:off x="7534910" y="2364740"/>
            <a:ext cx="2077720" cy="1120775"/>
          </a:xfrm>
          <a:prstGeom prst="rect">
            <a:avLst/>
          </a:prstGeom>
        </p:spPr>
      </p:pic>
      <p:pic>
        <p:nvPicPr>
          <p:cNvPr id="182" name="图片 181" descr="20_rgb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2380" y="1229995"/>
            <a:ext cx="1826895" cy="1027430"/>
          </a:xfrm>
          <a:prstGeom prst="rect">
            <a:avLst/>
          </a:prstGeom>
        </p:spPr>
      </p:pic>
      <p:pic>
        <p:nvPicPr>
          <p:cNvPr id="183" name="图片 182"/>
          <p:cNvPicPr>
            <a:picLocks noChangeAspect="1"/>
          </p:cNvPicPr>
          <p:nvPr/>
        </p:nvPicPr>
        <p:blipFill>
          <a:blip r:embed="rId11"/>
          <a:srcRect l="3876" t="16316"/>
          <a:stretch>
            <a:fillRect/>
          </a:stretch>
        </p:blipFill>
        <p:spPr>
          <a:xfrm>
            <a:off x="9749155" y="1229995"/>
            <a:ext cx="1894840" cy="1017905"/>
          </a:xfrm>
          <a:prstGeom prst="rect">
            <a:avLst/>
          </a:prstGeom>
        </p:spPr>
      </p:pic>
      <p:sp>
        <p:nvSpPr>
          <p:cNvPr id="186" name="文本框 185"/>
          <p:cNvSpPr txBox="1"/>
          <p:nvPr/>
        </p:nvSpPr>
        <p:spPr>
          <a:xfrm>
            <a:off x="7138670" y="775335"/>
            <a:ext cx="49206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银河腕部深度</a:t>
            </a:r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方案</a:t>
            </a:r>
            <a:endParaRPr lang="zh-CN" altLang="en-US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9669780" y="2520315"/>
            <a:ext cx="2442845" cy="758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腕部深度通过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lingbot</a:t>
            </a:r>
            <a:r>
              <a:rPr lang="zh-CN" altLang="en-US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优化后</a:t>
            </a:r>
            <a:r>
              <a:rPr lang="zh-CN" altLang="en-US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很好</a:t>
            </a:r>
            <a:endParaRPr lang="zh-CN" altLang="en-US" sz="20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7226935" y="3870325"/>
            <a:ext cx="4831715" cy="758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感知服务直接全放服务器端</a:t>
            </a:r>
            <a:r>
              <a:rPr lang="zh-CN" altLang="en-US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运行</a:t>
            </a:r>
            <a:endParaRPr lang="zh-CN" altLang="en-US" sz="20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49155" y="4771390"/>
            <a:ext cx="2150110" cy="6394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料箱感知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全流程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49155" y="5752465"/>
            <a:ext cx="2150110" cy="854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SAM3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分割</a:t>
            </a:r>
            <a:b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fdp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初始追踪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mask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）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1"/>
          <a:srcRect l="50165" t="15261" r="6669"/>
          <a:stretch>
            <a:fillRect/>
          </a:stretch>
        </p:blipFill>
        <p:spPr>
          <a:xfrm>
            <a:off x="47625" y="1767205"/>
            <a:ext cx="992505" cy="12026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625" y="2969895"/>
            <a:ext cx="10814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lingbot</a:t>
            </a:r>
            <a:endParaRPr kumimoji="0" lang="en-US" altLang="zh-CN" sz="14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深度优化</a:t>
            </a:r>
            <a:endParaRPr kumimoji="0" lang="zh-CN" altLang="en-US" sz="14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左大括号 5"/>
          <p:cNvSpPr/>
          <p:nvPr/>
        </p:nvSpPr>
        <p:spPr>
          <a:xfrm>
            <a:off x="9221470" y="5024120"/>
            <a:ext cx="528320" cy="1404620"/>
          </a:xfrm>
          <a:prstGeom prst="leftBrace">
            <a:avLst>
              <a:gd name="adj1" fmla="val 8333"/>
              <a:gd name="adj2" fmla="val 36482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0" name="文本框 189"/>
          <p:cNvSpPr txBox="1"/>
          <p:nvPr/>
        </p:nvSpPr>
        <p:spPr>
          <a:xfrm>
            <a:off x="7138670" y="5034915"/>
            <a:ext cx="2150110" cy="979805"/>
          </a:xfrm>
          <a:prstGeom prst="rect">
            <a:avLst/>
          </a:prstGeom>
          <a:solidFill>
            <a:schemeClr val="accent1"/>
          </a:solidFill>
        </p:spPr>
        <p:txBody>
          <a:bodyPr vert="horz" wrap="square" rtlCol="0" anchor="ctr" anchorCtr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感知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服务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 txBox="1"/>
          <p:nvPr/>
        </p:nvSpPr>
        <p:spPr>
          <a:xfrm>
            <a:off x="1129665" y="101600"/>
            <a:ext cx="5050155" cy="5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宁德：代码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构成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4267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09295" y="838200"/>
            <a:ext cx="32607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银河板载机</a:t>
            </a:r>
            <a:endParaRPr lang="zh-CN" altLang="en-US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9321800" y="1644015"/>
            <a:ext cx="2705100" cy="8547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远程服务器端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通讯包装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76315" y="1644015"/>
            <a:ext cx="3260090" cy="854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remote_workbin_server.py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左大括号 5"/>
          <p:cNvSpPr/>
          <p:nvPr/>
        </p:nvSpPr>
        <p:spPr>
          <a:xfrm rot="5400000">
            <a:off x="7426960" y="2811145"/>
            <a:ext cx="528320" cy="3260725"/>
          </a:xfrm>
          <a:prstGeom prst="leftBrace">
            <a:avLst>
              <a:gd name="adj1" fmla="val 8333"/>
              <a:gd name="adj2" fmla="val 4914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411970" y="3361690"/>
            <a:ext cx="2614930" cy="8102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关键功能实现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类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06645" y="4762500"/>
            <a:ext cx="1764665" cy="8159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p>
            <a:pPr marR="0" lvl="0" indent="0" algn="ctr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AutoSegmentor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R="0" lvl="0" indent="0" algn="ctr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40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in </a:t>
            </a:r>
            <a:r>
              <a:rPr lang="en-US" altLang="zh-CN" sz="140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segmentor.py</a:t>
            </a:r>
            <a:r>
              <a:rPr lang="zh-CN" altLang="en-US" sz="140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）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9295" y="4585335"/>
            <a:ext cx="3260090" cy="854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p>
            <a:pPr marR="0" lvl="0" indent="0" algn="ctr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RemoteWorkbinPerception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98310" y="4762500"/>
            <a:ext cx="1764665" cy="8159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p>
            <a:pPr marR="0" lvl="0" indent="0" algn="ctr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AutoDepth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R="0" lvl="0" indent="0" algn="ctr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40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in auto_depth.py</a:t>
            </a:r>
            <a:r>
              <a:rPr lang="zh-CN" altLang="en-US" sz="140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）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89975" y="4762500"/>
            <a:ext cx="2524760" cy="8159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p>
            <a:pPr marR="0" lvl="0" indent="0" algn="ctr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WorkbinDetector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R="0" lvl="0" indent="0" algn="ctr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140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in workbin_detector_gal.py</a:t>
            </a:r>
            <a:r>
              <a:rPr lang="zh-CN" altLang="en-US" sz="1400" noProof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）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75045" y="3361690"/>
            <a:ext cx="3260725" cy="8159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p>
            <a:pPr marR="0" lvl="0" indent="0" algn="ctr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ServerWorkbinPerception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R="0" lvl="0" indent="0" algn="ctr" defTabSz="914400" rtl="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in server_workbin_perception.py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）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06645" y="5715000"/>
            <a:ext cx="1765300" cy="6394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料箱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分割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98310" y="5715000"/>
            <a:ext cx="1765300" cy="6394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深度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优化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89340" y="5715000"/>
            <a:ext cx="2524760" cy="6394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点提示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生成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模板匹配与位姿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估计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74410" y="838200"/>
            <a:ext cx="32607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远程服务器</a:t>
            </a:r>
            <a:endParaRPr lang="zh-CN" altLang="en-US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8660" y="5439410"/>
            <a:ext cx="3260090" cy="5207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客户端消息收发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包装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8" name="肘形连接符 17"/>
          <p:cNvCxnSpPr/>
          <p:nvPr/>
        </p:nvCxnSpPr>
        <p:spPr>
          <a:xfrm rot="10800000" flipV="1">
            <a:off x="2341245" y="2350135"/>
            <a:ext cx="3735070" cy="2235200"/>
          </a:xfrm>
          <a:prstGeom prst="bentConnector2">
            <a:avLst/>
          </a:prstGeom>
          <a:ln w="381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490220" y="2251075"/>
            <a:ext cx="1283970" cy="1178560"/>
            <a:chOff x="-92" y="1937"/>
            <a:chExt cx="2876" cy="3162"/>
          </a:xfrm>
        </p:grpSpPr>
        <p:pic>
          <p:nvPicPr>
            <p:cNvPr id="19" name="图片 18" descr="20_rgb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92" y="1937"/>
              <a:ext cx="2877" cy="1618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2"/>
            <a:srcRect l="3876" t="16316"/>
            <a:stretch>
              <a:fillRect/>
            </a:stretch>
          </p:blipFill>
          <p:spPr>
            <a:xfrm>
              <a:off x="-92" y="3555"/>
              <a:ext cx="2877" cy="1545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/>
        </p:nvGrpSpPr>
        <p:grpSpPr>
          <a:xfrm>
            <a:off x="1987550" y="1401445"/>
            <a:ext cx="4088130" cy="3183255"/>
            <a:chOff x="2811" y="2207"/>
            <a:chExt cx="6438" cy="3220"/>
          </a:xfrm>
        </p:grpSpPr>
        <p:cxnSp>
          <p:nvCxnSpPr>
            <p:cNvPr id="17" name="肘形连接符 16"/>
            <p:cNvCxnSpPr/>
            <p:nvPr/>
          </p:nvCxnSpPr>
          <p:spPr>
            <a:xfrm rot="16200000">
              <a:off x="4711" y="889"/>
              <a:ext cx="2638" cy="6439"/>
            </a:xfrm>
            <a:prstGeom prst="bentConnector2">
              <a:avLst/>
            </a:prstGeom>
            <a:ln w="38100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5" y="2207"/>
              <a:ext cx="908" cy="323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490220" y="3538855"/>
            <a:ext cx="1284605" cy="6394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RGB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图像与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深度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049780" y="2482215"/>
            <a:ext cx="3615055" cy="6394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料箱尺寸、姿态与近邻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信息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rcRect l="9959" t="937"/>
          <a:stretch>
            <a:fillRect/>
          </a:stretch>
        </p:blipFill>
        <p:spPr>
          <a:xfrm>
            <a:off x="2941955" y="2996565"/>
            <a:ext cx="1830705" cy="1176020"/>
          </a:xfrm>
          <a:prstGeom prst="rect">
            <a:avLst/>
          </a:prstGeom>
        </p:spPr>
      </p:pic>
      <p:cxnSp>
        <p:nvCxnSpPr>
          <p:cNvPr id="27" name="直接箭头连接符 26"/>
          <p:cNvCxnSpPr>
            <a:stCxn id="3" idx="2"/>
            <a:endCxn id="2" idx="0"/>
          </p:cNvCxnSpPr>
          <p:nvPr/>
        </p:nvCxnSpPr>
        <p:spPr>
          <a:xfrm flipH="1">
            <a:off x="7705725" y="2498090"/>
            <a:ext cx="635" cy="863600"/>
          </a:xfrm>
          <a:prstGeom prst="straightConnector1">
            <a:avLst/>
          </a:prstGeom>
          <a:ln w="254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7655560" y="2693035"/>
            <a:ext cx="984250" cy="4286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调用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 txBox="1"/>
          <p:nvPr/>
        </p:nvSpPr>
        <p:spPr>
          <a:xfrm>
            <a:off x="1129665" y="101600"/>
            <a:ext cx="5050155" cy="5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宁德：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LingBot-Depth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介绍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4267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40665" y="838200"/>
            <a:ext cx="37293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算法</a:t>
            </a:r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功能</a:t>
            </a:r>
            <a:endParaRPr lang="zh-CN" altLang="en-US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285" y="924560"/>
            <a:ext cx="6838315" cy="24993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285" y="3423920"/>
            <a:ext cx="6138545" cy="32531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06410" y="3787140"/>
            <a:ext cx="3498850" cy="21494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比较暴力，直接给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depth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信息上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mask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，让它解码出稠密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深度图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9860" y="3596640"/>
            <a:ext cx="14954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算法</a:t>
            </a:r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框架</a:t>
            </a:r>
            <a:endParaRPr lang="zh-CN" altLang="en-US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 txBox="1"/>
          <p:nvPr/>
        </p:nvSpPr>
        <p:spPr>
          <a:xfrm>
            <a:off x="1129665" y="101600"/>
            <a:ext cx="8858250" cy="5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宁德：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前排料箱提示点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提取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4267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54635" y="755650"/>
            <a:ext cx="32607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关键</a:t>
            </a:r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算法</a:t>
            </a:r>
            <a:endParaRPr lang="zh-CN" altLang="en-US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94945" y="951865"/>
            <a:ext cx="9488170" cy="6394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BEV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平面最大轮廓滤除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与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外接矩形拟合：</a:t>
            </a: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_apply_plane_filter</a:t>
            </a:r>
            <a:endParaRPr lang="en-US" altLang="zh-CN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" y="1693545"/>
            <a:ext cx="2432050" cy="15011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355" y="1693545"/>
            <a:ext cx="2755900" cy="15017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55410" y="1459865"/>
            <a:ext cx="5496560" cy="1634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这个算法多次用于料垛提取与料箱提取中，目的是</a:t>
            </a:r>
            <a:r>
              <a:rPr lang="zh-CN" altLang="en-US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去除料箱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料垛周围噪声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，让用于解析的料箱几何结构更稳定。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当然，生成的外界矩形也可用于</a:t>
            </a:r>
            <a:r>
              <a:rPr lang="zh-CN" altLang="en-US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粗定位料垛</a:t>
            </a:r>
            <a:r>
              <a:rPr lang="en-US" altLang="zh-CN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料箱位置</a:t>
            </a:r>
            <a:endParaRPr lang="zh-CN" altLang="en-US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80640" y="6257290"/>
            <a:ext cx="32283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800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自适应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scale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XY/XZ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平面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滤除</a:t>
            </a:r>
            <a:endParaRPr lang="zh-CN" altLang="en-US" sz="18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7" name="右箭头 46"/>
          <p:cNvSpPr/>
          <p:nvPr/>
        </p:nvSpPr>
        <p:spPr>
          <a:xfrm>
            <a:off x="2955290" y="5189220"/>
            <a:ext cx="557530" cy="2628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右箭头 22"/>
          <p:cNvSpPr/>
          <p:nvPr/>
        </p:nvSpPr>
        <p:spPr>
          <a:xfrm>
            <a:off x="5963285" y="5189220"/>
            <a:ext cx="525145" cy="2628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 rot="0">
            <a:off x="229870" y="4497070"/>
            <a:ext cx="2668270" cy="1601470"/>
            <a:chOff x="21" y="1544"/>
            <a:chExt cx="4202" cy="2522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" y="1544"/>
              <a:ext cx="4203" cy="2522"/>
            </a:xfrm>
            <a:prstGeom prst="rect">
              <a:avLst/>
            </a:prstGeom>
          </p:spPr>
        </p:pic>
        <p:sp>
          <p:nvSpPr>
            <p:cNvPr id="8" name="椭圆 7"/>
            <p:cNvSpPr/>
            <p:nvPr/>
          </p:nvSpPr>
          <p:spPr>
            <a:xfrm>
              <a:off x="872" y="2237"/>
              <a:ext cx="216" cy="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88" y="2482"/>
              <a:ext cx="300" cy="3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706" y="1921"/>
              <a:ext cx="264" cy="2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 rot="0">
            <a:off x="3608070" y="4400550"/>
            <a:ext cx="1565275" cy="894080"/>
            <a:chOff x="-3967" y="-2692"/>
            <a:chExt cx="6284" cy="3748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3967" y="-2692"/>
              <a:ext cx="6284" cy="3748"/>
            </a:xfrm>
            <a:prstGeom prst="rect">
              <a:avLst/>
            </a:prstGeom>
          </p:spPr>
        </p:pic>
        <p:sp>
          <p:nvSpPr>
            <p:cNvPr id="12" name="椭圆 11"/>
            <p:cNvSpPr/>
            <p:nvPr/>
          </p:nvSpPr>
          <p:spPr>
            <a:xfrm>
              <a:off x="-3272" y="-1668"/>
              <a:ext cx="300" cy="3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-2847" y="-2106"/>
              <a:ext cx="270" cy="25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186680" y="4497070"/>
            <a:ext cx="107442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周边高</a:t>
            </a:r>
            <a:r>
              <a:rPr lang="zh-CN" altLang="en-US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障碍</a:t>
            </a:r>
            <a:endParaRPr lang="zh-CN" altLang="en-US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278120" y="5425440"/>
            <a:ext cx="7073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悬空</a:t>
            </a:r>
            <a:r>
              <a:rPr lang="zh-CN" altLang="en-US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障碍</a:t>
            </a:r>
            <a:endParaRPr lang="zh-CN" altLang="en-US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25" name="组合 24"/>
          <p:cNvGrpSpPr/>
          <p:nvPr/>
        </p:nvGrpSpPr>
        <p:grpSpPr>
          <a:xfrm rot="0">
            <a:off x="3608070" y="5335905"/>
            <a:ext cx="1551940" cy="921385"/>
            <a:chOff x="5481" y="2713"/>
            <a:chExt cx="2444" cy="1451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5"/>
            <a:srcRect b="58224"/>
            <a:stretch>
              <a:fillRect/>
            </a:stretch>
          </p:blipFill>
          <p:spPr>
            <a:xfrm>
              <a:off x="5481" y="3238"/>
              <a:ext cx="2444" cy="92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5481" y="2713"/>
              <a:ext cx="2445" cy="52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6" name="椭圆 25"/>
          <p:cNvSpPr/>
          <p:nvPr/>
        </p:nvSpPr>
        <p:spPr>
          <a:xfrm>
            <a:off x="4721225" y="5544820"/>
            <a:ext cx="136525" cy="1384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4457700" y="5375275"/>
            <a:ext cx="104775" cy="1371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0">
            <a:off x="6594475" y="4393565"/>
            <a:ext cx="1941195" cy="1971040"/>
            <a:chOff x="9407" y="1380"/>
            <a:chExt cx="3057" cy="3104"/>
          </a:xfrm>
        </p:grpSpPr>
        <p:grpSp>
          <p:nvGrpSpPr>
            <p:cNvPr id="30" name="组合 29"/>
            <p:cNvGrpSpPr/>
            <p:nvPr/>
          </p:nvGrpSpPr>
          <p:grpSpPr>
            <a:xfrm rot="20760000">
              <a:off x="9867" y="2290"/>
              <a:ext cx="2472" cy="1593"/>
              <a:chOff x="9860" y="2292"/>
              <a:chExt cx="2472" cy="1593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9860" y="2292"/>
                <a:ext cx="2460" cy="153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1080" y="3238"/>
                <a:ext cx="1252" cy="6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32" name="椭圆 31"/>
            <p:cNvSpPr/>
            <p:nvPr/>
          </p:nvSpPr>
          <p:spPr>
            <a:xfrm>
              <a:off x="11802" y="1625"/>
              <a:ext cx="215" cy="2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 rot="2340000">
              <a:off x="11634" y="1680"/>
              <a:ext cx="418" cy="256"/>
            </a:xfrm>
            <a:prstGeom prst="ellipse">
              <a:avLst/>
            </a:prstGeom>
            <a:solidFill>
              <a:srgbClr val="00409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 rot="2460000">
              <a:off x="11618" y="1380"/>
              <a:ext cx="205" cy="256"/>
            </a:xfrm>
            <a:prstGeom prst="ellipse">
              <a:avLst/>
            </a:prstGeom>
            <a:solidFill>
              <a:srgbClr val="00409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 rot="3240000">
              <a:off x="9326" y="2632"/>
              <a:ext cx="418" cy="256"/>
            </a:xfrm>
            <a:prstGeom prst="ellipse">
              <a:avLst/>
            </a:prstGeom>
            <a:solidFill>
              <a:srgbClr val="00409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 rot="1560000">
              <a:off x="9920" y="4124"/>
              <a:ext cx="205" cy="361"/>
            </a:xfrm>
            <a:prstGeom prst="ellipse">
              <a:avLst/>
            </a:prstGeom>
            <a:solidFill>
              <a:srgbClr val="00409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 rot="21000000">
              <a:off x="9720" y="2148"/>
              <a:ext cx="2744" cy="1924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5" name="右箭头 34"/>
          <p:cNvSpPr/>
          <p:nvPr/>
        </p:nvSpPr>
        <p:spPr>
          <a:xfrm>
            <a:off x="8808085" y="5189220"/>
            <a:ext cx="683895" cy="26289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6113780" y="6257290"/>
            <a:ext cx="2514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8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边缘矩形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拟合</a:t>
            </a:r>
            <a:endParaRPr lang="zh-CN" altLang="en-US" sz="18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629775" y="5867400"/>
            <a:ext cx="24047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zh-CN" altLang="en-US" sz="18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下边缘点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提取</a:t>
            </a:r>
            <a:endParaRPr lang="zh-CN" altLang="en-US" sz="18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55" name="组合 54"/>
          <p:cNvGrpSpPr/>
          <p:nvPr/>
        </p:nvGrpSpPr>
        <p:grpSpPr>
          <a:xfrm rot="0">
            <a:off x="9552305" y="4749165"/>
            <a:ext cx="2051050" cy="1038860"/>
            <a:chOff x="15164" y="1789"/>
            <a:chExt cx="3230" cy="1636"/>
          </a:xfrm>
        </p:grpSpPr>
        <p:grpSp>
          <p:nvGrpSpPr>
            <p:cNvPr id="45" name="组合 44"/>
            <p:cNvGrpSpPr/>
            <p:nvPr/>
          </p:nvGrpSpPr>
          <p:grpSpPr>
            <a:xfrm>
              <a:off x="15164" y="2135"/>
              <a:ext cx="3230" cy="1290"/>
              <a:chOff x="15164" y="2135"/>
              <a:chExt cx="3230" cy="1290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15164" y="2135"/>
                <a:ext cx="3230" cy="1291"/>
                <a:chOff x="15460" y="1975"/>
                <a:chExt cx="3230" cy="1291"/>
              </a:xfrm>
            </p:grpSpPr>
            <p:grpSp>
              <p:nvGrpSpPr>
                <p:cNvPr id="39" name="组合 38"/>
                <p:cNvGrpSpPr/>
                <p:nvPr/>
              </p:nvGrpSpPr>
              <p:grpSpPr>
                <a:xfrm rot="20640000">
                  <a:off x="15460" y="1975"/>
                  <a:ext cx="2928" cy="624"/>
                  <a:chOff x="15677" y="1946"/>
                  <a:chExt cx="2928" cy="816"/>
                </a:xfrm>
              </p:grpSpPr>
              <p:cxnSp>
                <p:nvCxnSpPr>
                  <p:cNvPr id="40" name="肘形连接符 39"/>
                  <p:cNvCxnSpPr/>
                  <p:nvPr/>
                </p:nvCxnSpPr>
                <p:spPr>
                  <a:xfrm flipV="1">
                    <a:off x="15677" y="1946"/>
                    <a:ext cx="2928" cy="816"/>
                  </a:xfrm>
                  <a:prstGeom prst="bentConnector3">
                    <a:avLst>
                      <a:gd name="adj1" fmla="val 64378"/>
                    </a:avLst>
                  </a:prstGeom>
                  <a:ln w="25400"/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42" name="图片 41"/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6516" y="2114"/>
                    <a:ext cx="668" cy="368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43" name="直接连接符 42"/>
                <p:cNvCxnSpPr/>
                <p:nvPr/>
              </p:nvCxnSpPr>
              <p:spPr>
                <a:xfrm flipV="1">
                  <a:off x="15646" y="2690"/>
                  <a:ext cx="3045" cy="577"/>
                </a:xfrm>
                <a:prstGeom prst="line">
                  <a:avLst/>
                </a:prstGeom>
                <a:ln w="254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" name="椭圆 43"/>
              <p:cNvSpPr/>
              <p:nvPr/>
            </p:nvSpPr>
            <p:spPr>
              <a:xfrm>
                <a:off x="15966" y="3219"/>
                <a:ext cx="157" cy="16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6774" y="3055"/>
                <a:ext cx="157" cy="16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17852" y="2854"/>
                <a:ext cx="157" cy="16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49" name="椭圆 48"/>
            <p:cNvSpPr/>
            <p:nvPr/>
          </p:nvSpPr>
          <p:spPr>
            <a:xfrm>
              <a:off x="15866" y="2884"/>
              <a:ext cx="157" cy="16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6639" y="2670"/>
              <a:ext cx="157" cy="16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7466" y="1789"/>
              <a:ext cx="157" cy="164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2" name="直接连接符 51"/>
            <p:cNvCxnSpPr>
              <a:stCxn id="49" idx="4"/>
              <a:endCxn id="44" idx="1"/>
            </p:cNvCxnSpPr>
            <p:nvPr/>
          </p:nvCxnSpPr>
          <p:spPr>
            <a:xfrm>
              <a:off x="15945" y="3048"/>
              <a:ext cx="44" cy="195"/>
            </a:xfrm>
            <a:prstGeom prst="line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>
              <a:endCxn id="46" idx="1"/>
            </p:cNvCxnSpPr>
            <p:nvPr/>
          </p:nvCxnSpPr>
          <p:spPr>
            <a:xfrm>
              <a:off x="16752" y="2823"/>
              <a:ext cx="45" cy="256"/>
            </a:xfrm>
            <a:prstGeom prst="line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endCxn id="48" idx="1"/>
            </p:cNvCxnSpPr>
            <p:nvPr/>
          </p:nvCxnSpPr>
          <p:spPr>
            <a:xfrm>
              <a:off x="17578" y="1933"/>
              <a:ext cx="297" cy="945"/>
            </a:xfrm>
            <a:prstGeom prst="line">
              <a:avLst/>
            </a:prstGeom>
            <a:ln>
              <a:solidFill>
                <a:schemeClr val="accent5">
                  <a:lumMod val="40000"/>
                  <a:lumOff val="6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12" name="文本框 111"/>
          <p:cNvSpPr txBox="1"/>
          <p:nvPr/>
        </p:nvSpPr>
        <p:spPr>
          <a:xfrm>
            <a:off x="1461770" y="342900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 b="1" kern="100" dirty="0">
                <a:solidFill>
                  <a:schemeClr val="accent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_apply_plane_filter</a:t>
            </a:r>
            <a:endParaRPr lang="en-US" altLang="zh-CN" sz="2000" b="1" kern="100" dirty="0">
              <a:solidFill>
                <a:schemeClr val="accent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3" name="右大括号 112"/>
          <p:cNvSpPr/>
          <p:nvPr/>
        </p:nvSpPr>
        <p:spPr>
          <a:xfrm rot="16200000">
            <a:off x="4255135" y="851535"/>
            <a:ext cx="542925" cy="649605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文本框 113"/>
          <p:cNvSpPr txBox="1"/>
          <p:nvPr/>
        </p:nvSpPr>
        <p:spPr>
          <a:xfrm>
            <a:off x="9049385" y="4159885"/>
            <a:ext cx="308546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根据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下边框查询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点云上最近点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254635" y="3429635"/>
            <a:ext cx="27000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流程</a:t>
            </a:r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详解</a:t>
            </a:r>
            <a:endParaRPr lang="zh-CN" altLang="en-US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6" name="右箭头 115"/>
          <p:cNvSpPr/>
          <p:nvPr/>
        </p:nvSpPr>
        <p:spPr>
          <a:xfrm>
            <a:off x="2955290" y="2301875"/>
            <a:ext cx="330200" cy="2857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 txBox="1"/>
          <p:nvPr/>
        </p:nvSpPr>
        <p:spPr>
          <a:xfrm>
            <a:off x="1129665" y="101600"/>
            <a:ext cx="5050155" cy="5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宁德：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SAM3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介绍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4267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188595" y="838200"/>
            <a:ext cx="14954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算法</a:t>
            </a:r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功能</a:t>
            </a:r>
            <a:endParaRPr lang="zh-CN" altLang="en-US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9400" y="5122545"/>
            <a:ext cx="11558905" cy="13252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图像、几何提示、文本提示编码后，在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Detector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中融合，生成检测框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box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，实例掩膜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mask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，与实例的置信度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得分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algn="l"/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algn="l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有一定跟踪能力：过去图像特征存入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memory bank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，新图像特征在旧特征中检索跟踪掩膜，与最新检测结果合并得最终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输出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7510" y="1236980"/>
            <a:ext cx="11673205" cy="5207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支持文本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点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框提示输入，输出</a:t>
            </a:r>
            <a:r>
              <a:rPr lang="zh-CN" altLang="en-US" sz="16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候选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mask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及其</a:t>
            </a:r>
            <a:r>
              <a:rPr lang="zh-CN" altLang="en-US" sz="16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置信度得分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score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。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algn="l"/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SAM3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相比于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SAM2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等分割方法，彻底将语义提示信息融合到模型训练与推理，因此模型本身多模态理解能力更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强大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79400" y="1971040"/>
            <a:ext cx="8985250" cy="30778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8595" y="1828800"/>
            <a:ext cx="14954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算法</a:t>
            </a:r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框架</a:t>
            </a:r>
            <a:endParaRPr lang="zh-CN" altLang="en-US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 txBox="1"/>
          <p:nvPr/>
        </p:nvSpPr>
        <p:spPr>
          <a:xfrm>
            <a:off x="1129665" y="101600"/>
            <a:ext cx="8858250" cy="5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宁德：匹配与位姿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估计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4267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54635" y="869315"/>
            <a:ext cx="32607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关键</a:t>
            </a:r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算法</a:t>
            </a:r>
            <a:endParaRPr lang="zh-CN" altLang="en-US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4635" y="1589405"/>
            <a:ext cx="5135880" cy="63944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/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模板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匹配：</a:t>
            </a: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_apply_matching</a:t>
            </a:r>
            <a:endParaRPr lang="en-US" altLang="zh-CN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580" y="2299970"/>
            <a:ext cx="1833880" cy="163639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115" y="2299970"/>
            <a:ext cx="1803400" cy="1766570"/>
          </a:xfrm>
          <a:prstGeom prst="rect">
            <a:avLst/>
          </a:prstGeom>
        </p:spPr>
      </p:pic>
      <p:sp>
        <p:nvSpPr>
          <p:cNvPr id="116" name="右箭头 115"/>
          <p:cNvSpPr/>
          <p:nvPr/>
        </p:nvSpPr>
        <p:spPr>
          <a:xfrm>
            <a:off x="2402840" y="3112135"/>
            <a:ext cx="894715" cy="2857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935980" y="1346835"/>
            <a:ext cx="53543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得分计算</a:t>
            </a:r>
            <a:endParaRPr lang="zh-CN" altLang="en-US" sz="16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1695450"/>
            <a:ext cx="4768850" cy="76009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655" y="2531110"/>
            <a:ext cx="3567430" cy="871855"/>
          </a:xfrm>
          <a:prstGeom prst="rect">
            <a:avLst/>
          </a:prstGeom>
        </p:spPr>
      </p:pic>
      <p:sp>
        <p:nvSpPr>
          <p:cNvPr id="66" name="文本框 65"/>
          <p:cNvSpPr txBox="1"/>
          <p:nvPr/>
        </p:nvSpPr>
        <p:spPr>
          <a:xfrm>
            <a:off x="5935980" y="3478530"/>
            <a:ext cx="5149850" cy="7308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30000"/>
              </a:lnSpc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T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是二值模板，因此就是计算模板内有多少白</a:t>
            </a: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点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30000"/>
              </a:lnSpc>
            </a:pPr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最终得分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score = alpha * hit_count + hit_ratio</a:t>
            </a:r>
            <a:endParaRPr lang="en-US" altLang="zh-CN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3085" y="2455545"/>
            <a:ext cx="2752725" cy="762000"/>
          </a:xfrm>
          <a:prstGeom prst="rect">
            <a:avLst/>
          </a:prstGeom>
        </p:spPr>
      </p:pic>
      <p:sp>
        <p:nvSpPr>
          <p:cNvPr id="68" name="文本框 67"/>
          <p:cNvSpPr txBox="1"/>
          <p:nvPr/>
        </p:nvSpPr>
        <p:spPr>
          <a:xfrm>
            <a:off x="254635" y="4822190"/>
            <a:ext cx="107365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匹配</a:t>
            </a:r>
            <a:r>
              <a:rPr lang="zh-CN" altLang="en-US" sz="16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过程：</a:t>
            </a:r>
            <a:endParaRPr lang="zh-CN" altLang="en-US" sz="16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r>
              <a: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对每个大小的模板，遍历料箱图像大小内所有位置与旋转，取得分最高的模板与模板位姿</a:t>
            </a:r>
            <a:endParaRPr lang="zh-CN" altLang="en-US" sz="16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 txBox="1"/>
          <p:nvPr/>
        </p:nvSpPr>
        <p:spPr>
          <a:xfrm>
            <a:off x="1129665" y="101600"/>
            <a:ext cx="8858250" cy="5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宁德：最优料箱选择与邻近状态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67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判断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24267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56845" y="869315"/>
            <a:ext cx="270002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流程</a:t>
            </a:r>
            <a:r>
              <a:rPr lang="zh-CN" altLang="en-US" sz="2000" b="1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详解</a:t>
            </a:r>
            <a:endParaRPr lang="zh-CN" altLang="en-US" sz="2000" b="1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27025" y="1440180"/>
            <a:ext cx="11614785" cy="3910810"/>
            <a:chOff x="72" y="1594"/>
            <a:chExt cx="19263" cy="6203"/>
          </a:xfrm>
        </p:grpSpPr>
        <p:sp>
          <p:nvSpPr>
            <p:cNvPr id="11" name="流程图: 决策 10"/>
            <p:cNvSpPr/>
            <p:nvPr/>
          </p:nvSpPr>
          <p:spPr>
            <a:xfrm>
              <a:off x="15987" y="2250"/>
              <a:ext cx="2974" cy="1421"/>
            </a:xfrm>
            <a:prstGeom prst="flowChartDecision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竖放</a:t>
              </a:r>
              <a:endParaRPr lang="zh-CN" altLang="en-US"/>
            </a:p>
            <a:p>
              <a:pPr algn="ctr"/>
              <a:r>
                <a:rPr lang="zh-CN" altLang="en-US"/>
                <a:t>料箱？</a:t>
              </a:r>
              <a:endParaRPr lang="zh-CN" altLang="en-US"/>
            </a:p>
          </p:txBody>
        </p:sp>
        <p:pic>
          <p:nvPicPr>
            <p:cNvPr id="196" name="图片 195" descr="8_boxes_projection"/>
            <p:cNvPicPr>
              <a:picLocks noChangeAspect="1"/>
            </p:cNvPicPr>
            <p:nvPr/>
          </p:nvPicPr>
          <p:blipFill>
            <a:blip r:embed="rId1"/>
            <a:srcRect t="20722" b="18546"/>
            <a:stretch>
              <a:fillRect/>
            </a:stretch>
          </p:blipFill>
          <p:spPr>
            <a:xfrm>
              <a:off x="72" y="1594"/>
              <a:ext cx="4060" cy="2466"/>
            </a:xfrm>
            <a:prstGeom prst="rect">
              <a:avLst/>
            </a:prstGeom>
          </p:spPr>
        </p:pic>
        <p:sp>
          <p:nvSpPr>
            <p:cNvPr id="8" name="右箭头 7"/>
            <p:cNvSpPr/>
            <p:nvPr/>
          </p:nvSpPr>
          <p:spPr>
            <a:xfrm>
              <a:off x="3970" y="3317"/>
              <a:ext cx="1253" cy="414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003" y="3937"/>
              <a:ext cx="3139" cy="58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近邻状态判断</a:t>
              </a:r>
              <a:endParaRPr lang="zh-CN" altLang="en-US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5728" y="2356"/>
              <a:ext cx="1875" cy="1424"/>
              <a:chOff x="5738" y="2344"/>
              <a:chExt cx="1475" cy="1213"/>
            </a:xfrm>
          </p:grpSpPr>
          <p:grpSp>
            <p:nvGrpSpPr>
              <p:cNvPr id="44" name="组合 43"/>
              <p:cNvGrpSpPr/>
              <p:nvPr/>
            </p:nvGrpSpPr>
            <p:grpSpPr>
              <a:xfrm rot="0">
                <a:off x="6419" y="2393"/>
                <a:ext cx="794" cy="1164"/>
                <a:chOff x="5000" y="8235"/>
                <a:chExt cx="738" cy="1133"/>
              </a:xfrm>
            </p:grpSpPr>
            <p:sp>
              <p:nvSpPr>
                <p:cNvPr id="40" name="矩形 39"/>
                <p:cNvSpPr/>
                <p:nvPr/>
              </p:nvSpPr>
              <p:spPr>
                <a:xfrm rot="1140000">
                  <a:off x="5000" y="8466"/>
                  <a:ext cx="738" cy="903"/>
                </a:xfrm>
                <a:prstGeom prst="rect">
                  <a:avLst/>
                </a:prstGeom>
                <a:noFill/>
                <a:ln w="25400">
                  <a:solidFill>
                    <a:srgbClr val="0064FF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5297" y="8857"/>
                  <a:ext cx="119" cy="1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2" name="直接箭头连接符 41"/>
                <p:cNvCxnSpPr/>
                <p:nvPr/>
              </p:nvCxnSpPr>
              <p:spPr>
                <a:xfrm flipV="1">
                  <a:off x="5349" y="8235"/>
                  <a:ext cx="254" cy="683"/>
                </a:xfrm>
                <a:prstGeom prst="straightConnector1">
                  <a:avLst/>
                </a:prstGeom>
                <a:ln w="19050"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8" name="矩形 87"/>
              <p:cNvSpPr/>
              <p:nvPr/>
            </p:nvSpPr>
            <p:spPr>
              <a:xfrm rot="1140000">
                <a:off x="5738" y="2344"/>
                <a:ext cx="654" cy="931"/>
              </a:xfrm>
              <a:prstGeom prst="rect">
                <a:avLst/>
              </a:prstGeom>
              <a:noFill/>
              <a:ln w="25400">
                <a:solidFill>
                  <a:srgbClr val="0064FF">
                    <a:alpha val="38000"/>
                  </a:srgbClr>
                </a:solidFill>
                <a:prstDash val="sys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7" name="左大括号 6"/>
            <p:cNvSpPr/>
            <p:nvPr/>
          </p:nvSpPr>
          <p:spPr>
            <a:xfrm>
              <a:off x="7862" y="1802"/>
              <a:ext cx="539" cy="2540"/>
            </a:xfrm>
            <a:prstGeom prst="leftBrace">
              <a:avLst/>
            </a:prstGeom>
            <a:ln w="2540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3" name="矩形 182"/>
            <p:cNvSpPr/>
            <p:nvPr/>
          </p:nvSpPr>
          <p:spPr>
            <a:xfrm rot="20760000">
              <a:off x="9909" y="1889"/>
              <a:ext cx="1149" cy="721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4" name="矩形 183"/>
            <p:cNvSpPr/>
            <p:nvPr/>
          </p:nvSpPr>
          <p:spPr>
            <a:xfrm rot="15300000">
              <a:off x="8767" y="1962"/>
              <a:ext cx="1149" cy="721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38" y="4079"/>
              <a:ext cx="3800" cy="102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依据排序确定</a:t>
              </a:r>
              <a:r>
                <a:rPr lang="en-US" altLang="zh-CN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main</a:t>
              </a:r>
              <a:r>
                <a:rPr lang="zh-CN" altLang="en-US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与</a:t>
              </a:r>
              <a:r>
                <a:rPr lang="en-US" altLang="zh-CN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side</a:t>
              </a:r>
              <a:r>
                <a:rPr lang="zh-CN" altLang="en-US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（第二</a:t>
              </a:r>
              <a:r>
                <a:rPr lang="zh-CN" altLang="en-US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近）</a:t>
              </a:r>
              <a:endParaRPr lang="zh-CN" altLang="en-US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86" name="直接连接符 185"/>
            <p:cNvCxnSpPr/>
            <p:nvPr/>
          </p:nvCxnSpPr>
          <p:spPr>
            <a:xfrm flipV="1">
              <a:off x="9380" y="2250"/>
              <a:ext cx="1075" cy="42"/>
            </a:xfrm>
            <a:prstGeom prst="line">
              <a:avLst/>
            </a:prstGeom>
            <a:ln w="25400">
              <a:solidFill>
                <a:schemeClr val="accent5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9161" y="2804"/>
              <a:ext cx="677" cy="167"/>
            </a:xfrm>
            <a:prstGeom prst="line">
              <a:avLst/>
            </a:prstGeom>
            <a:ln w="25400">
              <a:solidFill>
                <a:schemeClr val="accent5"/>
              </a:solidFill>
              <a:headEnd type="oval"/>
              <a:tailEnd type="oval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11795" y="1674"/>
              <a:ext cx="2969" cy="97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竖直状态</a:t>
              </a:r>
              <a:r>
                <a:rPr lang="zh-CN" altLang="en-US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判断：</a:t>
              </a:r>
              <a:endParaRPr lang="zh-CN" altLang="en-US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algn="l"/>
              <a:r>
                <a:rPr lang="en-US" altLang="zh-CN" sz="1600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deg</a:t>
              </a:r>
              <a:r>
                <a:rPr lang="zh-CN" altLang="en-US" sz="1600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＜</a:t>
              </a:r>
              <a:r>
                <a:rPr lang="en-US" altLang="zh-CN" sz="1600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45</a:t>
              </a:r>
              <a:r>
                <a:rPr lang="zh-CN" altLang="en-US" sz="1600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°</a:t>
              </a:r>
              <a:endPara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23" name="弧形 22"/>
            <p:cNvSpPr/>
            <p:nvPr/>
          </p:nvSpPr>
          <p:spPr>
            <a:xfrm rot="13560000">
              <a:off x="9445" y="2195"/>
              <a:ext cx="863" cy="777"/>
            </a:xfrm>
            <a:prstGeom prst="arc">
              <a:avLst/>
            </a:prstGeom>
            <a:ln w="25400"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8974" y="3047"/>
              <a:ext cx="2572" cy="1178"/>
              <a:chOff x="8974" y="2923"/>
              <a:chExt cx="2572" cy="1178"/>
            </a:xfrm>
          </p:grpSpPr>
          <p:sp>
            <p:nvSpPr>
              <p:cNvPr id="24" name="矩形 23"/>
              <p:cNvSpPr/>
              <p:nvPr/>
            </p:nvSpPr>
            <p:spPr>
              <a:xfrm rot="20760000">
                <a:off x="9044" y="3253"/>
                <a:ext cx="1149" cy="721"/>
              </a:xfrm>
              <a:prstGeom prst="rect">
                <a:avLst/>
              </a:prstGeom>
              <a:noFill/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 rot="21120000">
                <a:off x="10398" y="2923"/>
                <a:ext cx="1149" cy="721"/>
              </a:xfrm>
              <a:prstGeom prst="rect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8" name="直接连接符 27"/>
              <p:cNvCxnSpPr/>
              <p:nvPr/>
            </p:nvCxnSpPr>
            <p:spPr>
              <a:xfrm>
                <a:off x="10070" y="3107"/>
                <a:ext cx="198" cy="756"/>
              </a:xfrm>
              <a:prstGeom prst="line">
                <a:avLst/>
              </a:prstGeom>
              <a:ln w="25400">
                <a:solidFill>
                  <a:schemeClr val="accent5"/>
                </a:solidFill>
                <a:headEnd type="oval"/>
                <a:tailEnd type="oval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8974" y="3397"/>
                <a:ext cx="158" cy="704"/>
              </a:xfrm>
              <a:prstGeom prst="line">
                <a:avLst/>
              </a:prstGeom>
              <a:ln w="25400">
                <a:solidFill>
                  <a:schemeClr val="accent5"/>
                </a:solidFill>
                <a:headEnd type="oval"/>
                <a:tailEnd type="oval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32" name="直接连接符 31"/>
            <p:cNvCxnSpPr/>
            <p:nvPr/>
          </p:nvCxnSpPr>
          <p:spPr>
            <a:xfrm flipV="1">
              <a:off x="10242" y="3796"/>
              <a:ext cx="209" cy="35"/>
            </a:xfrm>
            <a:prstGeom prst="line">
              <a:avLst/>
            </a:prstGeom>
            <a:ln w="25400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/>
          </p:nvSpPr>
          <p:spPr>
            <a:xfrm>
              <a:off x="11795" y="2826"/>
              <a:ext cx="2969" cy="13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邻近判断：</a:t>
              </a:r>
              <a:endParaRPr lang="zh-CN" altLang="en-US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algn="l"/>
              <a:r>
                <a:rPr lang="zh-CN" altLang="en-US" sz="1600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线段最小距离判定，中心定左右</a:t>
              </a:r>
              <a:endPara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34" name="右箭头 33"/>
            <p:cNvSpPr/>
            <p:nvPr/>
          </p:nvSpPr>
          <p:spPr>
            <a:xfrm>
              <a:off x="14527" y="2750"/>
              <a:ext cx="1253" cy="414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2059" y="5170"/>
              <a:ext cx="3495" cy="1293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给出料垛侧面</a:t>
              </a:r>
              <a:endParaRPr lang="zh-CN" altLang="en-US"/>
            </a:p>
            <a:p>
              <a:pPr algn="ctr"/>
              <a:r>
                <a:rPr lang="zh-CN" altLang="en-US"/>
                <a:t>参考</a:t>
              </a:r>
              <a:r>
                <a:rPr lang="zh-CN" altLang="en-US"/>
                <a:t>位置</a:t>
              </a:r>
              <a:endParaRPr lang="zh-CN" altLang="en-US"/>
            </a:p>
          </p:txBody>
        </p:sp>
        <p:sp>
          <p:nvSpPr>
            <p:cNvPr id="37" name="右箭头 36"/>
            <p:cNvSpPr/>
            <p:nvPr/>
          </p:nvSpPr>
          <p:spPr>
            <a:xfrm rot="7740000">
              <a:off x="15366" y="4516"/>
              <a:ext cx="2372" cy="414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5554" y="4060"/>
              <a:ext cx="1005" cy="58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是</a:t>
              </a:r>
              <a:endParaRPr lang="zh-CN" altLang="en-US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2"/>
            <a:srcRect l="15597" b="41386"/>
            <a:stretch>
              <a:fillRect/>
            </a:stretch>
          </p:blipFill>
          <p:spPr>
            <a:xfrm>
              <a:off x="16543" y="5514"/>
              <a:ext cx="2418" cy="1260"/>
            </a:xfrm>
            <a:prstGeom prst="rect">
              <a:avLst/>
            </a:prstGeom>
          </p:spPr>
        </p:pic>
        <p:sp>
          <p:nvSpPr>
            <p:cNvPr id="43" name="文本框 42"/>
            <p:cNvSpPr txBox="1"/>
            <p:nvPr/>
          </p:nvSpPr>
          <p:spPr>
            <a:xfrm>
              <a:off x="14647" y="6774"/>
              <a:ext cx="4688" cy="102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 kern="100" dirty="0">
                  <a:solidFill>
                    <a:srgbClr val="C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考虑到实际竖放料箱分布</a:t>
              </a:r>
              <a:endParaRPr lang="zh-CN" altLang="en-US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r>
                <a:rPr lang="zh-CN" altLang="en-US" b="1" kern="100" dirty="0">
                  <a:solidFill>
                    <a:srgbClr val="C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影响重</a:t>
              </a:r>
              <a:r>
                <a:rPr lang="zh-CN" altLang="en-US" b="1" kern="100" dirty="0">
                  <a:solidFill>
                    <a:srgbClr val="C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规划</a:t>
              </a:r>
              <a:endParaRPr lang="zh-CN" altLang="en-US" b="1" kern="1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6465" y="4913"/>
              <a:ext cx="2619" cy="53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600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距离可能太远</a:t>
              </a:r>
              <a:endPara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9772" y="6995"/>
              <a:ext cx="3388" cy="53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1600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给出偏向侧边及</a:t>
              </a:r>
              <a:r>
                <a:rPr lang="zh-CN" altLang="en-US" sz="1600" kern="100" dirty="0">
                  <a:solidFill>
                    <a:srgbClr val="00000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朝向</a:t>
              </a:r>
              <a:endParaRPr lang="zh-CN" altLang="en-US" sz="16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>
              <a:off x="7676" y="4576"/>
              <a:ext cx="3877" cy="2750"/>
              <a:chOff x="6969" y="4254"/>
              <a:chExt cx="3877" cy="2750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7596" y="4254"/>
                <a:ext cx="3250" cy="2751"/>
                <a:chOff x="7216" y="4254"/>
                <a:chExt cx="3250" cy="2751"/>
              </a:xfrm>
            </p:grpSpPr>
            <p:grpSp>
              <p:nvGrpSpPr>
                <p:cNvPr id="56" name="组合 55"/>
                <p:cNvGrpSpPr/>
                <p:nvPr/>
              </p:nvGrpSpPr>
              <p:grpSpPr>
                <a:xfrm>
                  <a:off x="7300" y="4254"/>
                  <a:ext cx="3166" cy="2354"/>
                  <a:chOff x="7300" y="4254"/>
                  <a:chExt cx="3166" cy="2354"/>
                </a:xfrm>
              </p:grpSpPr>
              <p:grpSp>
                <p:nvGrpSpPr>
                  <p:cNvPr id="52" name="组合 51"/>
                  <p:cNvGrpSpPr/>
                  <p:nvPr/>
                </p:nvGrpSpPr>
                <p:grpSpPr>
                  <a:xfrm>
                    <a:off x="7300" y="4254"/>
                    <a:ext cx="3166" cy="2355"/>
                    <a:chOff x="6777" y="4552"/>
                    <a:chExt cx="3166" cy="2355"/>
                  </a:xfrm>
                </p:grpSpPr>
                <p:sp>
                  <p:nvSpPr>
                    <p:cNvPr id="47" name="矩形 46"/>
                    <p:cNvSpPr/>
                    <p:nvPr/>
                  </p:nvSpPr>
                  <p:spPr>
                    <a:xfrm rot="20760000">
                      <a:off x="6933" y="4732"/>
                      <a:ext cx="3010" cy="2175"/>
                    </a:xfrm>
                    <a:prstGeom prst="rect">
                      <a:avLst/>
                    </a:prstGeom>
                    <a:solidFill>
                      <a:schemeClr val="bg2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8" name="矩形 47"/>
                    <p:cNvSpPr/>
                    <p:nvPr/>
                  </p:nvSpPr>
                  <p:spPr>
                    <a:xfrm rot="4560000">
                      <a:off x="6799" y="5966"/>
                      <a:ext cx="1149" cy="721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9" name="矩形 48"/>
                    <p:cNvSpPr/>
                    <p:nvPr/>
                  </p:nvSpPr>
                  <p:spPr>
                    <a:xfrm rot="9900000">
                      <a:off x="6777" y="5012"/>
                      <a:ext cx="1061" cy="62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0" name="矩形 49"/>
                    <p:cNvSpPr/>
                    <p:nvPr/>
                  </p:nvSpPr>
                  <p:spPr>
                    <a:xfrm rot="9900000">
                      <a:off x="7851" y="4789"/>
                      <a:ext cx="1061" cy="62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1" name="矩形 50"/>
                    <p:cNvSpPr/>
                    <p:nvPr/>
                  </p:nvSpPr>
                  <p:spPr>
                    <a:xfrm rot="15300000">
                      <a:off x="8840" y="4742"/>
                      <a:ext cx="1061" cy="681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53" name="椭圆 52"/>
                  <p:cNvSpPr/>
                  <p:nvPr/>
                </p:nvSpPr>
                <p:spPr>
                  <a:xfrm>
                    <a:off x="8824" y="5384"/>
                    <a:ext cx="473" cy="435"/>
                  </a:xfrm>
                  <a:prstGeom prst="ellipse">
                    <a:avLst/>
                  </a:prstGeom>
                  <a:solidFill>
                    <a:schemeClr val="tx1">
                      <a:lumMod val="75000"/>
                      <a:lumOff val="2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4" name="椭圆 53"/>
                  <p:cNvSpPr/>
                  <p:nvPr/>
                </p:nvSpPr>
                <p:spPr>
                  <a:xfrm>
                    <a:off x="8250" y="5461"/>
                    <a:ext cx="316" cy="285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5" name="直接箭头连接符 54"/>
                  <p:cNvCxnSpPr/>
                  <p:nvPr/>
                </p:nvCxnSpPr>
                <p:spPr>
                  <a:xfrm flipH="1" flipV="1">
                    <a:off x="8428" y="5591"/>
                    <a:ext cx="623" cy="15"/>
                  </a:xfrm>
                  <a:prstGeom prst="straightConnector1">
                    <a:avLst/>
                  </a:prstGeom>
                  <a:ln w="38100">
                    <a:solidFill>
                      <a:schemeClr val="accent6">
                        <a:lumMod val="50000"/>
                        <a:lumOff val="50000"/>
                      </a:schemeClr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7" name="直接连接符 56"/>
                <p:cNvCxnSpPr/>
                <p:nvPr/>
              </p:nvCxnSpPr>
              <p:spPr>
                <a:xfrm>
                  <a:off x="7216" y="4855"/>
                  <a:ext cx="564" cy="2150"/>
                </a:xfrm>
                <a:prstGeom prst="line">
                  <a:avLst/>
                </a:prstGeom>
                <a:ln w="38100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直接箭头连接符 59"/>
              <p:cNvCxnSpPr/>
              <p:nvPr/>
            </p:nvCxnSpPr>
            <p:spPr>
              <a:xfrm flipV="1">
                <a:off x="6969" y="6006"/>
                <a:ext cx="893" cy="217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62" name="矩形 61"/>
            <p:cNvSpPr/>
            <p:nvPr/>
          </p:nvSpPr>
          <p:spPr>
            <a:xfrm>
              <a:off x="3738" y="5707"/>
              <a:ext cx="2400" cy="1091"/>
            </a:xfrm>
            <a:prstGeom prst="rect">
              <a:avLst/>
            </a:prstGeom>
            <a:solidFill>
              <a:schemeClr val="accent2">
                <a:lumMod val="25000"/>
                <a:lumOff val="75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olidFill>
                    <a:schemeClr val="accent1"/>
                  </a:solidFill>
                </a:rPr>
                <a:t>先移动至</a:t>
              </a:r>
              <a:endParaRPr lang="zh-CN" altLang="en-US">
                <a:solidFill>
                  <a:schemeClr val="accent1"/>
                </a:solidFill>
              </a:endParaRPr>
            </a:p>
            <a:p>
              <a:pPr algn="ctr"/>
              <a:r>
                <a:rPr lang="zh-CN" altLang="en-US">
                  <a:solidFill>
                    <a:schemeClr val="accent1"/>
                  </a:solidFill>
                </a:rPr>
                <a:t>侧面</a:t>
              </a:r>
              <a:endParaRPr lang="zh-CN" altLang="en-US">
                <a:solidFill>
                  <a:schemeClr val="accent1"/>
                </a:solidFill>
              </a:endParaRPr>
            </a:p>
          </p:txBody>
        </p:sp>
        <p:sp>
          <p:nvSpPr>
            <p:cNvPr id="63" name="右箭头 62"/>
            <p:cNvSpPr/>
            <p:nvPr/>
          </p:nvSpPr>
          <p:spPr>
            <a:xfrm flipH="1">
              <a:off x="6266" y="6049"/>
              <a:ext cx="1083" cy="414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右箭头 18"/>
            <p:cNvSpPr/>
            <p:nvPr/>
          </p:nvSpPr>
          <p:spPr>
            <a:xfrm flipH="1">
              <a:off x="2703" y="6049"/>
              <a:ext cx="857" cy="414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238" y="5560"/>
              <a:ext cx="2290" cy="1293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重新拍摄</a:t>
              </a:r>
              <a:endParaRPr lang="zh-CN" altLang="en-US"/>
            </a:p>
            <a:p>
              <a:pPr algn="ctr"/>
              <a:r>
                <a:rPr lang="zh-CN" altLang="en-US"/>
                <a:t>检测</a:t>
              </a:r>
              <a:endParaRPr lang="zh-CN" altLang="en-US"/>
            </a:p>
          </p:txBody>
        </p:sp>
      </p:grpSp>
      <p:sp>
        <p:nvSpPr>
          <p:cNvPr id="149" name="文本框 148"/>
          <p:cNvSpPr txBox="1"/>
          <p:nvPr/>
        </p:nvSpPr>
        <p:spPr>
          <a:xfrm>
            <a:off x="0" y="5581015"/>
            <a:ext cx="1208976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竖直摆放（定义为相对于料垛前边缘垂直）料箱抓取需要移动到面向长边的位置，因此需要</a:t>
            </a:r>
            <a:r>
              <a:rPr lang="zh-CN" altLang="en-US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重规划</a:t>
            </a:r>
            <a:endParaRPr lang="zh-CN" altLang="en-US" sz="20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额外提供主料箱（最近待抓取）与周围料箱的相邻关系，供下游抓取</a:t>
            </a:r>
            <a:r>
              <a:rPr lang="zh-CN" altLang="en-US" sz="2000" kern="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规划</a:t>
            </a:r>
            <a:endParaRPr lang="zh-CN" altLang="en-US" sz="2000" kern="1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177e98ad-1ab0-4991-b7e8-761cc9e9e2e8&quot;,&quot;Name&quot;:&quot;极简9&quot;,&quot;Kind&quot;:&quot;Custom&quot;,&quot;OldGuidesSetting&quot;:{&quot;HeaderHeight&quot;:11.0,&quot;FooterHeight&quot;:4.0,&quot;SideMargin&quot;:4.0,&quot;TopMargin&quot;:0.0,&quot;BottomMargin&quot;:0.0,&quot;IntervalMargin&quot;:0.0}}"/>
  <p:tag name="commondata" val="eyJoZGlkIjoiYjk2ZmVhOTc4NTE2ZDZlNTlhY2ZhYjUzZDIxY2NiNzkifQ=="/>
</p:tagLst>
</file>

<file path=ppt/theme/theme1.xml><?xml version="1.0" encoding="utf-8"?>
<a:theme xmlns:a="http://schemas.openxmlformats.org/drawingml/2006/main" name="Office 主题​​">
  <a:themeElements>
    <a:clrScheme name="SJTUB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F08300"/>
      </a:accent3>
      <a:accent4>
        <a:srgbClr val="FDD000"/>
      </a:accent4>
      <a:accent5>
        <a:srgbClr val="338D27"/>
      </a:accent5>
      <a:accent6>
        <a:srgbClr val="00514E"/>
      </a:accent6>
      <a:hlink>
        <a:srgbClr val="B5B5B6"/>
      </a:hlink>
      <a:folHlink>
        <a:srgbClr val="BD9F68"/>
      </a:folHlink>
    </a:clrScheme>
    <a:fontScheme name="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1381</Words>
  <Application>WPS 演示</Application>
  <PresentationFormat>宽屏</PresentationFormat>
  <Paragraphs>195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Times New Roman</vt:lpstr>
      <vt:lpstr>Arial</vt:lpstr>
      <vt:lpstr>华文宋体</vt:lpstr>
      <vt:lpstr>等线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 Xiaodan</dc:creator>
  <cp:lastModifiedBy>吴宇璇</cp:lastModifiedBy>
  <cp:revision>3266</cp:revision>
  <dcterms:created xsi:type="dcterms:W3CDTF">2021-12-04T09:40:00Z</dcterms:created>
  <dcterms:modified xsi:type="dcterms:W3CDTF">2026-05-30T09:27:34Z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353C2C38A2E342EFA78796111A934BC4_12</vt:lpwstr>
  </property>
  <property fmtid="{D5CDD505-2E9C-101B-9397-08002B2CF9AE}" pid="3" name="KSOProductBuildVer">
    <vt:lpwstr>2052-12.1.0.20305</vt:lpwstr>
  </property>
</Properties>
</file>